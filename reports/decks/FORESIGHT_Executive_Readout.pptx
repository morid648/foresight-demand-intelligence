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B42318"/>
              </a:solidFill>
            </c:spPr>
          </c:dPt>
          <c:dPt>
            <c:idx val="1"/>
            <c:spPr>
              <a:solidFill>
                <a:srgbClr val="B42318"/>
              </a:solidFill>
            </c:spPr>
          </c:dPt>
          <c:dPt>
            <c:idx val="2"/>
            <c:spPr>
              <a:solidFill>
                <a:srgbClr val="B42318"/>
              </a:solidFill>
            </c:spPr>
          </c:dPt>
          <c:dPt>
            <c:idx val="3"/>
            <c:spPr>
              <a:solidFill>
                <a:srgbClr val="B42318"/>
              </a:solidFill>
            </c:spPr>
          </c:dPt>
          <c:dPt>
            <c:idx val="4"/>
            <c:spPr>
              <a:solidFill>
                <a:srgbClr val="B42318"/>
              </a:solidFill>
            </c:spPr>
          </c:dPt>
          <c:dPt>
            <c:idx val="5"/>
            <c:spPr>
              <a:solidFill>
                <a:srgbClr val="C9CFD6"/>
              </a:solidFill>
            </c:spPr>
          </c:dPt>
          <c:dPt>
            <c:idx val="6"/>
            <c:spPr>
              <a:solidFill>
                <a:srgbClr val="C9CFD6"/>
              </a:solidFill>
            </c:spPr>
          </c:dPt>
          <c:dPt>
            <c:idx val="7"/>
            <c:spPr>
              <a:solidFill>
                <a:srgbClr val="C9CFD6"/>
              </a:solidFill>
            </c:spPr>
          </c:dPt>
          <c:dPt>
            <c:idx val="8"/>
            <c:spPr>
              <a:solidFill>
                <a:srgbClr val="C9CFD6"/>
              </a:solidFill>
            </c:spPr>
          </c:dPt>
          <c:dPt>
            <c:idx val="9"/>
            <c:spPr>
              <a:solidFill>
                <a:srgbClr val="C9CFD6"/>
              </a:solidFill>
            </c:spPr>
          </c:dPt>
          <c:cat>
            <c:strRef>
              <c:f>Sheet1!$A$2:$A$11</c:f>
              <c:strCache>
                <c:ptCount val="10"/>
                <c:pt idx="0">
                  <c:v>Pillows · BED-PIL-021</c:v>
                </c:pt>
                <c:pt idx="1">
                  <c:v>Table Linen · KIT-TAB-031</c:v>
                </c:pt>
                <c:pt idx="2">
                  <c:v>Candles · HOM-CAN-007</c:v>
                </c:pt>
                <c:pt idx="3">
                  <c:v>Vases · HOM-VAS-001</c:v>
                </c:pt>
                <c:pt idx="4">
                  <c:v>Wall Art · HOM-WAL-004</c:v>
                </c:pt>
                <c:pt idx="5">
                  <c:v>Vases · HOM-VAS-003</c:v>
                </c:pt>
                <c:pt idx="6">
                  <c:v>Table Linen · KIT-TAB-032</c:v>
                </c:pt>
                <c:pt idx="7">
                  <c:v>Wall Art · HOM-WAL-006</c:v>
                </c:pt>
                <c:pt idx="8">
                  <c:v>Glassware · KIT-GLA-027</c:v>
                </c:pt>
                <c:pt idx="9">
                  <c:v>Dispensers · BAT-DIS-037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14.1909329</c:v>
                </c:pt>
                <c:pt idx="1">
                  <c:v>10.4388754</c:v>
                </c:pt>
                <c:pt idx="2">
                  <c:v>6.3248976</c:v>
                </c:pt>
                <c:pt idx="3">
                  <c:v>6.0020333</c:v>
                </c:pt>
                <c:pt idx="4">
                  <c:v>5.8312044</c:v>
                </c:pt>
                <c:pt idx="5">
                  <c:v>4.7502932</c:v>
                </c:pt>
                <c:pt idx="6">
                  <c:v>4.2788012</c:v>
                </c:pt>
                <c:pt idx="7">
                  <c:v>2.3705201000000002</c:v>
                </c:pt>
                <c:pt idx="8">
                  <c:v>2.3378058</c:v>
                </c:pt>
                <c:pt idx="9">
                  <c:v>2.2522989</c:v>
                </c:pt>
              </c:numCache>
            </c:numRef>
          </c:val>
        </c:ser>
        <c:dLbls>
          <c:numFmt formatCode="&quot;₹&quot;0.0&quot; L&quot;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5DAE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B1F2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5F6B7A"/>
              </a:solidFill>
            </c:spPr>
          </c:dPt>
          <c:dPt>
            <c:idx val="1"/>
            <c:spPr>
              <a:solidFill>
                <a:srgbClr val="C9CFD6"/>
              </a:solidFill>
            </c:spPr>
          </c:dPt>
          <c:dPt>
            <c:idx val="2"/>
            <c:spPr>
              <a:solidFill>
                <a:srgbClr val="C9CFD6"/>
              </a:solidFill>
            </c:spPr>
          </c:dPt>
          <c:dPt>
            <c:idx val="3"/>
            <c:spPr>
              <a:solidFill>
                <a:srgbClr val="1F3A5F"/>
              </a:solidFill>
            </c:spPr>
          </c:dPt>
          <c:cat>
            <c:strRef>
              <c:f>Sheet1!$A$2:$A$5</c:f>
              <c:strCache>
                <c:ptCount val="4"/>
                <c:pt idx="0">
                  <c:v>Same week
last year</c:v>
                </c:pt>
                <c:pt idx="1">
                  <c:v>Linear
model</c:v>
                </c:pt>
                <c:pt idx="2">
                  <c:v>Gradient
boosting</c:v>
                </c:pt>
                <c:pt idx="3">
                  <c:v>Random forest
(selected)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33.17</c:v>
                </c:pt>
                <c:pt idx="1">
                  <c:v>23.189999999999998</c:v>
                </c:pt>
                <c:pt idx="2">
                  <c:v>20.95</c:v>
                </c:pt>
                <c:pt idx="3">
                  <c:v>20.79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5DAE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B1F2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1F3A5F"/>
              </a:solidFill>
            </c:spPr>
          </c:dPt>
          <c:dPt>
            <c:idx val="1"/>
            <c:spPr>
              <a:solidFill>
                <a:srgbClr val="B76E00"/>
              </a:solidFill>
            </c:spPr>
          </c:dPt>
          <c:cat>
            <c:strRef>
              <c:f>Sheet1!$A$2:$A$3</c:f>
              <c:strCache>
                <c:ptCount val="2"/>
                <c:pt idx="0">
                  <c:v>Cash needed to close all 10 gaps (at cost)</c:v>
                </c:pt>
                <c:pt idx="1">
                  <c:v>Cash tied up in the 9 overstocked SKUs (at cost)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27.064254909999995</c:v>
                </c:pt>
                <c:pt idx="1">
                  <c:v>57.162005</c:v>
                </c:pt>
              </c:numCache>
            </c:numRef>
          </c:val>
        </c:ser>
        <c:dLbls>
          <c:numFmt formatCode="&quot;₹&quot;0.0&quot; L&quot;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5DAE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B1F2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sentence: we are not over- or under-buying overall; we are buying the wrong things. The fix is funded by stock we already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top to bottom: situation, cost, cause, decision. Every number is sourced later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'before'. The rule is not wrong, it is blind: it looks backward and assumes stock arrives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1: short. Click 2: overstocked. Click 3: healthy. Land the point that both problems exist at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to act first. The top two alone are ₹24.6 lakh.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Simple first: out of every 100 units sold, the model is off by about 21, the benchmark by about 33. Bias −0.8% means the model neither pads nor starves 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one step per click, then the worked example. Technical depth (safety stock = 1.65 σ √L) is in the appendix only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point: no new working capital is needed; we recycle cash already sitting in the warehouse. Timing: markdown cash lags the POs by a few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for all three today. Decision 1 is time-critical: the longest lead time is five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Timeline first, then the scorecard we report back on every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 about limits; it builds trust with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CTO. The same scoring code sits behind both doors, and a test checks they 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63550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Calibri"/>
              </a:rPr>
              <a:t>Project FORESIGHT · Executive readout · NorthBay Living sample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EXECUTIVE READOUT  ·  NORTHBAY LIVING  · 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10058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>
                <a:solidFill>
                  <a:srgbClr val="1B1F24"/>
                </a:solidFill>
                <a:latin typeface="Georgia"/>
              </a:rPr>
              <a:t>Fix the stock mix,</a:t>
            </a:r>
          </a:p>
          <a:p>
            <a:pPr algn="l"/>
            <a:r>
              <a:rPr sz="4400" b="0">
                <a:solidFill>
                  <a:srgbClr val="1B1F24"/>
                </a:solidFill>
                <a:latin typeface="Georgia"/>
              </a:rPr>
              <a:t>and it pays for itself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0"/>
            <a:ext cx="8961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5F6B7A"/>
                </a:solidFill>
                <a:latin typeface="Calibri"/>
              </a:rPr>
              <a:t>₹58.8 L of sales at risk and ₹57.2 L of cash locked in excess stock, inside the same 40-SKU range.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6692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Calibri"/>
              </a:rPr>
              <a:t>Project FORESIGHT  ·  Demand &amp; inventory intelligence  ·  Prepared by Anshul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0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1B1F24"/>
                </a:solidFill>
                <a:latin typeface="Georgia"/>
              </a:rPr>
              <a:t>Clear the excess, use the cash to reorder, and move buying to a weekly forecast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550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Calibri"/>
              </a:rPr>
              <a:t>Source: FORESIGHT risk engine, artifacts/risk_snapshot.csv (stock as of 31 Dec 2025, NorthBay Living sample data).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F6B7A"/>
                </a:solidFill>
                <a:latin typeface="Calibri"/>
              </a:rPr>
              <a:t>THE SITUATION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828800"/>
            <a:ext cx="6309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B1F24"/>
                </a:solidFill>
                <a:latin typeface="Calibri"/>
              </a:rPr>
              <a:t>10 of 40 SKUs hold less than half the stock they need to last until the next supplier delivery.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828800"/>
            <a:ext cx="24505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400" b="0">
                <a:solidFill>
                  <a:srgbClr val="B42318"/>
                </a:solidFill>
                <a:latin typeface="Georgia"/>
              </a:rPr>
              <a:t>10 SKUs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2633472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27889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F6B7A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97480"/>
            <a:ext cx="6309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B1F24"/>
                </a:solidFill>
                <a:latin typeface="Calibri"/>
              </a:rPr>
              <a:t>9 SKUs hold far more stock than the next 12 weeks will sell.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697480"/>
            <a:ext cx="24505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400" b="0">
                <a:solidFill>
                  <a:srgbClr val="B76E00"/>
                </a:solidFill>
                <a:latin typeface="Georgia"/>
              </a:rPr>
              <a:t>9 SKUs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3502152"/>
            <a:ext cx="885139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36576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F6B7A"/>
                </a:solidFill>
                <a:latin typeface="Calibri"/>
              </a:rPr>
              <a:t>WHAT IT COSTS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66160"/>
            <a:ext cx="6309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B1F24"/>
                </a:solidFill>
                <a:latin typeface="Calibri"/>
              </a:rPr>
              <a:t>₹58.8 L of sales at risk, and ₹57.2 L of cash tied up in excess stock.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566160"/>
            <a:ext cx="24505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400" b="0">
                <a:solidFill>
                  <a:srgbClr val="1B1F24"/>
                </a:solidFill>
                <a:latin typeface="Georgia"/>
              </a:rPr>
              <a:t>₹1.16 Cr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4370832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45262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F6B7A"/>
                </a:solidFill>
                <a:latin typeface="Calibri"/>
              </a:rPr>
              <a:t>WHAT CHANGES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434840"/>
            <a:ext cx="6309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B1F24"/>
                </a:solidFill>
                <a:latin typeface="Calibri"/>
              </a:rPr>
              <a:t>A forecast that misses by 21% of units sold, against 33% for a same-week-last-year rule.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434840"/>
            <a:ext cx="24505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400" b="0">
                <a:solidFill>
                  <a:srgbClr val="1F3A5F"/>
                </a:solidFill>
                <a:latin typeface="Georgia"/>
              </a:rPr>
              <a:t>−37% error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5239512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53949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F6B7A"/>
                </a:solidFill>
                <a:latin typeface="Calibri"/>
              </a:rPr>
              <a:t>THE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303520"/>
            <a:ext cx="6309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B1F24"/>
                </a:solidFill>
                <a:latin typeface="Calibri"/>
              </a:rPr>
              <a:t>Approve ₹27.1 L of reorders, paid for by clearing excess, plus a 90-day weekly-planning pilot.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5303520"/>
            <a:ext cx="24505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400" b="0">
                <a:solidFill>
                  <a:srgbClr val="1F3A5F"/>
                </a:solidFill>
                <a:latin typeface="Georgia"/>
              </a:rPr>
              <a:t>90 days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4360" y="6108192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Calibri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0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1B1F24"/>
                </a:solidFill>
                <a:latin typeface="Georgia"/>
              </a:rPr>
              <a:t>Today's buying rule averages the last four weeks, so it cannot see seasons or supplier wait times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550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Calibri"/>
              </a:rPr>
              <a:t>Source: FORESIGHT project report (current planning practice); supplier lead times 7–35 days from inventory snapshot.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103120"/>
            <a:ext cx="2834640" cy="1097280"/>
          </a:xfrm>
          <a:prstGeom prst="rect">
            <a:avLst/>
          </a:prstGeom>
          <a:noFill/>
          <a:ln w="12700">
            <a:solidFill>
              <a:srgbClr val="1B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28346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B1F24"/>
                </a:solidFill>
                <a:latin typeface="Calibri"/>
              </a:rPr>
              <a:t>Last 4 weeks</a:t>
            </a:r>
          </a:p>
          <a:p>
            <a:pPr algn="ctr"/>
            <a:r>
              <a:rPr sz="1700" b="0">
                <a:solidFill>
                  <a:srgbClr val="1B1F24"/>
                </a:solidFill>
                <a:latin typeface="Calibri"/>
              </a:rPr>
              <a:t>of sales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11879" y="2551176"/>
            <a:ext cx="548640" cy="201168"/>
          </a:xfrm>
          <a:prstGeom prst="rightArrow">
            <a:avLst/>
          </a:prstGeom>
          <a:solidFill>
            <a:srgbClr val="C9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103120"/>
            <a:ext cx="2834640" cy="1097280"/>
          </a:xfrm>
          <a:prstGeom prst="rect">
            <a:avLst/>
          </a:prstGeom>
          <a:noFill/>
          <a:ln w="12700">
            <a:solidFill>
              <a:srgbClr val="1B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103120"/>
            <a:ext cx="28346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B1F24"/>
                </a:solidFill>
                <a:latin typeface="Calibri"/>
              </a:rPr>
              <a:t>Take the</a:t>
            </a:r>
          </a:p>
          <a:p>
            <a:pPr algn="ctr"/>
            <a:r>
              <a:rPr sz="1700" b="0">
                <a:solidFill>
                  <a:srgbClr val="1B1F24"/>
                </a:solidFill>
                <a:latin typeface="Calibri"/>
              </a:rPr>
              <a:t>average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360920" y="2551176"/>
            <a:ext cx="548640" cy="201168"/>
          </a:xfrm>
          <a:prstGeom prst="rightArrow">
            <a:avLst/>
          </a:prstGeom>
          <a:solidFill>
            <a:srgbClr val="C9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2103120"/>
            <a:ext cx="2834640" cy="1097280"/>
          </a:xfrm>
          <a:prstGeom prst="rect">
            <a:avLst/>
          </a:prstGeom>
          <a:noFill/>
          <a:ln w="12700">
            <a:solidFill>
              <a:srgbClr val="1B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2103120"/>
            <a:ext cx="28346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B1F24"/>
                </a:solidFill>
                <a:latin typeface="Calibri"/>
              </a:rPr>
              <a:t>Order roughly</a:t>
            </a:r>
          </a:p>
          <a:p>
            <a:pPr algn="ctr"/>
            <a:r>
              <a:rPr sz="1700" b="0">
                <a:solidFill>
                  <a:srgbClr val="1B1F24"/>
                </a:solidFill>
                <a:latin typeface="Calibri"/>
              </a:rPr>
              <a:t>the same again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720" y="3200400"/>
            <a:ext cx="0" cy="502920"/>
          </a:xfrm>
          <a:prstGeom prst="line">
            <a:avLst/>
          </a:prstGeom>
          <a:ln w="19050">
            <a:solidFill>
              <a:srgbClr val="B42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343400" y="379476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B42318"/>
                </a:solidFill>
                <a:latin typeface="Calibri"/>
              </a:rPr>
              <a:t>Blind to seasonal peaks</a:t>
            </a:r>
          </a:p>
          <a:p>
            <a:pPr algn="ctr"/>
            <a:r>
              <a:rPr sz="1400" b="0">
                <a:solidFill>
                  <a:srgbClr val="B42318"/>
                </a:solidFill>
                <a:latin typeface="Calibri"/>
              </a:rPr>
              <a:t>and promotions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509760" y="3200400"/>
            <a:ext cx="0" cy="502920"/>
          </a:xfrm>
          <a:prstGeom prst="line">
            <a:avLst/>
          </a:prstGeom>
          <a:ln w="19050">
            <a:solidFill>
              <a:srgbClr val="B42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92440" y="379476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B42318"/>
                </a:solidFill>
                <a:latin typeface="Calibri"/>
              </a:rPr>
              <a:t>Assumes stock arrives at once;</a:t>
            </a:r>
          </a:p>
          <a:p>
            <a:pPr algn="ctr"/>
            <a:r>
              <a:rPr sz="1400" b="0">
                <a:solidFill>
                  <a:srgbClr val="B42318"/>
                </a:solidFill>
                <a:latin typeface="Calibri"/>
              </a:rPr>
              <a:t>suppliers take 7 to 35 days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" y="493776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5120640"/>
            <a:ext cx="110002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B1F24"/>
                </a:solidFill>
                <a:latin typeface="Georgia"/>
              </a:rPr>
              <a:t>Result: every SKU gets the same attention, whether ₹0 or ₹14.2 L is at stake.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Calibri"/>
              </a:rPr>
              <a:t>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0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1B1F24"/>
                </a:solidFill>
                <a:latin typeface="Georgia"/>
              </a:rPr>
              <a:t>One range, two opposite problems: 10 SKUs are running short while 9 sit on excess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550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Calibri"/>
              </a:rPr>
              <a:t>Source: FORESIGHT risk engine, artifacts/risk_snapshot.csv (stock as of 31 Dec 2025, NorthBay Living sample data). Each square is one SKU.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Calibri"/>
              </a:rPr>
              <a:t>4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94360" y="1965960"/>
            <a:ext cx="3291840" cy="3246120"/>
            <a:chOff x="594360" y="1965960"/>
            <a:chExt cx="3291840" cy="3246120"/>
          </a:xfrm>
        </p:grpSpPr>
        <p:sp>
          <p:nvSpPr>
            <p:cNvPr id="8" name="TextBox 7"/>
            <p:cNvSpPr txBox="1"/>
            <p:nvPr/>
          </p:nvSpPr>
          <p:spPr>
            <a:xfrm>
              <a:off x="594360" y="1965960"/>
              <a:ext cx="329184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200" b="1">
                  <a:solidFill>
                    <a:srgbClr val="B42318"/>
                  </a:solidFill>
                  <a:latin typeface="Calibri"/>
                </a:rPr>
                <a:t>RUNNING SHORT  ·  10 SKUs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94360" y="2377440"/>
              <a:ext cx="384048" cy="384048"/>
            </a:xfrm>
            <a:prstGeom prst="rect">
              <a:avLst/>
            </a:prstGeom>
            <a:solidFill>
              <a:srgbClr val="B423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69848" y="2377440"/>
              <a:ext cx="384048" cy="384048"/>
            </a:xfrm>
            <a:prstGeom prst="rect">
              <a:avLst/>
            </a:prstGeom>
            <a:solidFill>
              <a:srgbClr val="B423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45336" y="2377440"/>
              <a:ext cx="384048" cy="384048"/>
            </a:xfrm>
            <a:prstGeom prst="rect">
              <a:avLst/>
            </a:prstGeom>
            <a:solidFill>
              <a:srgbClr val="B423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020824" y="2377440"/>
              <a:ext cx="384048" cy="384048"/>
            </a:xfrm>
            <a:prstGeom prst="rect">
              <a:avLst/>
            </a:prstGeom>
            <a:solidFill>
              <a:srgbClr val="B423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496312" y="2377440"/>
              <a:ext cx="384048" cy="384048"/>
            </a:xfrm>
            <a:prstGeom prst="rect">
              <a:avLst/>
            </a:prstGeom>
            <a:solidFill>
              <a:srgbClr val="B423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94360" y="2852928"/>
              <a:ext cx="384048" cy="384048"/>
            </a:xfrm>
            <a:prstGeom prst="rect">
              <a:avLst/>
            </a:prstGeom>
            <a:solidFill>
              <a:srgbClr val="B423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69848" y="2852928"/>
              <a:ext cx="384048" cy="384048"/>
            </a:xfrm>
            <a:prstGeom prst="rect">
              <a:avLst/>
            </a:prstGeom>
            <a:solidFill>
              <a:srgbClr val="B423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545336" y="2852928"/>
              <a:ext cx="384048" cy="384048"/>
            </a:xfrm>
            <a:prstGeom prst="rect">
              <a:avLst/>
            </a:prstGeom>
            <a:solidFill>
              <a:srgbClr val="B423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020824" y="2852928"/>
              <a:ext cx="384048" cy="384048"/>
            </a:xfrm>
            <a:prstGeom prst="rect">
              <a:avLst/>
            </a:prstGeom>
            <a:solidFill>
              <a:srgbClr val="B423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496312" y="2852928"/>
              <a:ext cx="384048" cy="384048"/>
            </a:xfrm>
            <a:prstGeom prst="rect">
              <a:avLst/>
            </a:prstGeom>
            <a:solidFill>
              <a:srgbClr val="B423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4360" y="3977639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3000" b="0">
                  <a:solidFill>
                    <a:srgbClr val="1B1F24"/>
                  </a:solidFill>
                  <a:latin typeface="Georgia"/>
                </a:rPr>
                <a:t>₹58.8 L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94360" y="4572000"/>
              <a:ext cx="32918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300" b="0">
                  <a:solidFill>
                    <a:srgbClr val="5F6B7A"/>
                  </a:solidFill>
                  <a:latin typeface="Calibri"/>
                </a:rPr>
                <a:t>sales at risk before the</a:t>
              </a:r>
            </a:p>
            <a:p>
              <a:pPr algn="l"/>
              <a:r>
                <a:rPr sz="1300" b="0">
                  <a:solidFill>
                    <a:srgbClr val="5F6B7A"/>
                  </a:solidFill>
                  <a:latin typeface="Calibri"/>
                </a:rPr>
                <a:t>next supplier delivery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206240" y="1965960"/>
            <a:ext cx="3291840" cy="3246120"/>
            <a:chOff x="4206240" y="1965960"/>
            <a:chExt cx="3291840" cy="3246120"/>
          </a:xfrm>
        </p:grpSpPr>
        <p:sp>
          <p:nvSpPr>
            <p:cNvPr id="22" name="TextBox 21"/>
            <p:cNvSpPr txBox="1"/>
            <p:nvPr/>
          </p:nvSpPr>
          <p:spPr>
            <a:xfrm>
              <a:off x="4206240" y="1965960"/>
              <a:ext cx="329184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200" b="1">
                  <a:solidFill>
                    <a:srgbClr val="B76E00"/>
                  </a:solidFill>
                  <a:latin typeface="Calibri"/>
                </a:rPr>
                <a:t>OVERSTOCKED  ·  9 SKUs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206240" y="2377440"/>
              <a:ext cx="384048" cy="384048"/>
            </a:xfrm>
            <a:prstGeom prst="rect">
              <a:avLst/>
            </a:prstGeom>
            <a:solidFill>
              <a:srgbClr val="B76E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681727" y="2377440"/>
              <a:ext cx="384048" cy="384048"/>
            </a:xfrm>
            <a:prstGeom prst="rect">
              <a:avLst/>
            </a:prstGeom>
            <a:solidFill>
              <a:srgbClr val="B76E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157216" y="2377440"/>
              <a:ext cx="384048" cy="384048"/>
            </a:xfrm>
            <a:prstGeom prst="rect">
              <a:avLst/>
            </a:prstGeom>
            <a:solidFill>
              <a:srgbClr val="B76E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632704" y="2377440"/>
              <a:ext cx="384048" cy="384048"/>
            </a:xfrm>
            <a:prstGeom prst="rect">
              <a:avLst/>
            </a:prstGeom>
            <a:solidFill>
              <a:srgbClr val="B76E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108192" y="2377440"/>
              <a:ext cx="384048" cy="384048"/>
            </a:xfrm>
            <a:prstGeom prst="rect">
              <a:avLst/>
            </a:prstGeom>
            <a:solidFill>
              <a:srgbClr val="B76E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206240" y="2852928"/>
              <a:ext cx="384048" cy="384048"/>
            </a:xfrm>
            <a:prstGeom prst="rect">
              <a:avLst/>
            </a:prstGeom>
            <a:solidFill>
              <a:srgbClr val="B76E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681727" y="2852928"/>
              <a:ext cx="384048" cy="384048"/>
            </a:xfrm>
            <a:prstGeom prst="rect">
              <a:avLst/>
            </a:prstGeom>
            <a:solidFill>
              <a:srgbClr val="B76E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157216" y="2852928"/>
              <a:ext cx="384048" cy="384048"/>
            </a:xfrm>
            <a:prstGeom prst="rect">
              <a:avLst/>
            </a:prstGeom>
            <a:solidFill>
              <a:srgbClr val="B76E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632704" y="2852928"/>
              <a:ext cx="384048" cy="384048"/>
            </a:xfrm>
            <a:prstGeom prst="rect">
              <a:avLst/>
            </a:prstGeom>
            <a:solidFill>
              <a:srgbClr val="B76E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206240" y="3977639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3000" b="0">
                  <a:solidFill>
                    <a:srgbClr val="1B1F24"/>
                  </a:solidFill>
                  <a:latin typeface="Georgia"/>
                </a:rPr>
                <a:t>₹57.2 L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206240" y="4572000"/>
              <a:ext cx="32918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300" b="0">
                  <a:solidFill>
                    <a:srgbClr val="5F6B7A"/>
                  </a:solidFill>
                  <a:latin typeface="Calibri"/>
                </a:rPr>
                <a:t>cash tied up in stock the next</a:t>
              </a:r>
            </a:p>
            <a:p>
              <a:pPr algn="l"/>
              <a:r>
                <a:rPr sz="1300" b="0">
                  <a:solidFill>
                    <a:srgbClr val="5F6B7A"/>
                  </a:solidFill>
                  <a:latin typeface="Calibri"/>
                </a:rPr>
                <a:t>12 weeks will not sell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7818120" y="1965960"/>
            <a:ext cx="3291840" cy="3246120"/>
            <a:chOff x="7818120" y="1965960"/>
            <a:chExt cx="3291840" cy="3246120"/>
          </a:xfrm>
        </p:grpSpPr>
        <p:sp>
          <p:nvSpPr>
            <p:cNvPr id="35" name="TextBox 34"/>
            <p:cNvSpPr txBox="1"/>
            <p:nvPr/>
          </p:nvSpPr>
          <p:spPr>
            <a:xfrm>
              <a:off x="7818120" y="1965960"/>
              <a:ext cx="329184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200" b="1">
                  <a:solidFill>
                    <a:srgbClr val="5F6B7A"/>
                  </a:solidFill>
                  <a:latin typeface="Calibri"/>
                </a:rPr>
                <a:t>HEALTHY  ·  21 SKUs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818120" y="2377440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293608" y="2377440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769096" y="2377440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9244584" y="2377440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9720072" y="2377440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0195560" y="2377440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0671048" y="2377440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818120" y="2852928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8293608" y="2852928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8769096" y="2852928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9244584" y="2852928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720072" y="2852928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0195560" y="2852928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0671048" y="2852928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818120" y="3328416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8293608" y="3328416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8769096" y="3328416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9244584" y="3328416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9720072" y="3328416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0195560" y="3328416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0671048" y="3328416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818120" y="3977639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3000" b="0">
                  <a:solidFill>
                    <a:srgbClr val="1B1F24"/>
                  </a:solidFill>
                  <a:latin typeface="Georgia"/>
                </a:rPr>
                <a:t>21 SKUs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818120" y="4572000"/>
              <a:ext cx="32918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300" b="0">
                  <a:solidFill>
                    <a:srgbClr val="5F6B7A"/>
                  </a:solidFill>
                  <a:latin typeface="Calibri"/>
                </a:rPr>
                <a:t>stock covers demand, with</a:t>
              </a:r>
            </a:p>
            <a:p>
              <a:pPr algn="l"/>
              <a:r>
                <a:rPr sz="1300" b="0">
                  <a:solidFill>
                    <a:srgbClr val="5F6B7A"/>
                  </a:solidFill>
                  <a:latin typeface="Calibri"/>
                </a:rPr>
                <a:t>a safety buffer</a:t>
              </a: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594360" y="5577840"/>
            <a:ext cx="11000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B1F24"/>
                </a:solidFill>
                <a:latin typeface="Georgia"/>
              </a:rPr>
              <a:t>The problem is not how much we buy. It is where the money goes.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Calibri"/>
              </a:rPr>
              <a:t>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0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1B1F24"/>
                </a:solidFill>
                <a:latin typeface="Georgia"/>
              </a:rPr>
              <a:t>Five SKUs carry 73% of the revenue at risk, so the first orders are obvious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550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Calibri"/>
              </a:rPr>
              <a:t>Source: FORESIGHT risk engine, artifacts/risk_snapshot.csv (stock as of 31 Dec 2025, NorthBay Living sample data). Sales at risk = shortfall units × selling price.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Calibri"/>
              </a:rPr>
              <a:t>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" y="1783080"/>
          <a:ext cx="7680960" cy="4434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0" y="19202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>
                <a:solidFill>
                  <a:srgbClr val="B42318"/>
                </a:solidFill>
                <a:latin typeface="Georgia"/>
              </a:rPr>
              <a:t>73%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7432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Calibri"/>
              </a:rPr>
              <a:t>of ₹58.8 L sits in five SKUs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0" y="3429000"/>
            <a:ext cx="2926080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0" y="356616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Calibri"/>
              </a:rPr>
              <a:t>Their suppliers take up to 35 days. An order placed this week lands in about 5 weeks.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Calibri"/>
              </a:rPr>
              <a:t>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0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1B1F24"/>
                </a:solidFill>
                <a:latin typeface="Georgia"/>
              </a:rPr>
              <a:t>The new forecast misses by 21% of units sold; a same-week-last-year rule misses by 33%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550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Calibri"/>
              </a:rPr>
              <a:t>Source: re-run of FORESIGHT back-test (src/backtest.py), 4 rolling test windows Aug–Dec 2025, 8 weeks each, 40 SKUs. WAPE = total absolute error ÷ total units sold.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Calibri"/>
              </a:rPr>
              <a:t>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" y="1783080"/>
          <a:ext cx="722376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0" y="192024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>
                <a:solidFill>
                  <a:srgbClr val="1F3A5F"/>
                </a:solidFill>
                <a:latin typeface="Georgia"/>
              </a:rPr>
              <a:t>−37%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Calibri"/>
              </a:rPr>
              <a:t>forecast error versus the benchmark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0" y="3429000"/>
            <a:ext cx="3108960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12480" y="3566160"/>
            <a:ext cx="320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Calibri"/>
              </a:rPr>
              <a:t>Every point of error becomes a missed sale or stock nobody buys.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0" y="4572000"/>
            <a:ext cx="3108960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0" y="4709160"/>
            <a:ext cx="320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Calibri"/>
              </a:rPr>
              <a:t>No lean either way: it under-forecasts by just 0.8% overall.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0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1B1F24"/>
                </a:solidFill>
                <a:latin typeface="Georgia"/>
              </a:rPr>
              <a:t>The engine asks one question per SKU: will stock last until the next delivery arrives?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550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Calibri"/>
              </a:rPr>
              <a:t>Source: FORESIGHT risk engine (src/risk.py, src/impact.py); example row from artifacts/risk_snapshot.csv.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Calibri"/>
              </a:rPr>
              <a:t>7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94360" y="1965960"/>
            <a:ext cx="2384298" cy="2148840"/>
            <a:chOff x="594360" y="1965960"/>
            <a:chExt cx="2384298" cy="2148840"/>
          </a:xfrm>
        </p:grpSpPr>
        <p:sp>
          <p:nvSpPr>
            <p:cNvPr id="8" name="TextBox 7"/>
            <p:cNvSpPr txBox="1"/>
            <p:nvPr/>
          </p:nvSpPr>
          <p:spPr>
            <a:xfrm>
              <a:off x="594360" y="1965960"/>
              <a:ext cx="73152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3000" b="0">
                  <a:solidFill>
                    <a:srgbClr val="1F3A5F"/>
                  </a:solidFill>
                  <a:latin typeface="Georgia"/>
                </a:rPr>
                <a:t>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94360" y="2606039"/>
              <a:ext cx="2384298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600" b="1">
                  <a:solidFill>
                    <a:srgbClr val="1B1F24"/>
                  </a:solidFill>
                  <a:latin typeface="Calibri"/>
                </a:rPr>
                <a:t>Forecast demand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94360" y="3017520"/>
              <a:ext cx="2384298" cy="10972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300" b="0">
                  <a:solidFill>
                    <a:srgbClr val="5F6B7A"/>
                  </a:solidFill>
                  <a:latin typeface="Calibri"/>
                </a:rPr>
                <a:t>Predicts units sold for each SKU, week by week, 8 weeks ahead.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207258" y="1965960"/>
            <a:ext cx="2521458" cy="2148840"/>
            <a:chOff x="3207258" y="1965960"/>
            <a:chExt cx="2521458" cy="2148840"/>
          </a:xfrm>
        </p:grpSpPr>
        <p:cxnSp>
          <p:nvCxnSpPr>
            <p:cNvPr id="12" name="Connector 11"/>
            <p:cNvCxnSpPr/>
            <p:nvPr/>
          </p:nvCxnSpPr>
          <p:spPr>
            <a:xfrm>
              <a:off x="3207258" y="1965960"/>
              <a:ext cx="0" cy="1737360"/>
            </a:xfrm>
            <a:prstGeom prst="line">
              <a:avLst/>
            </a:prstGeom>
            <a:ln w="9525">
              <a:solidFill>
                <a:srgbClr val="D5DA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3344418" y="1965960"/>
              <a:ext cx="73152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3000" b="0">
                  <a:solidFill>
                    <a:srgbClr val="1F3A5F"/>
                  </a:solidFill>
                  <a:latin typeface="Georgia"/>
                </a:rPr>
                <a:t>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344418" y="2606039"/>
              <a:ext cx="2384298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600" b="1">
                  <a:solidFill>
                    <a:srgbClr val="1B1F24"/>
                  </a:solidFill>
                  <a:latin typeface="Calibri"/>
                </a:rPr>
                <a:t>Demand until delivery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344418" y="3017520"/>
              <a:ext cx="2384298" cy="10972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300" b="0">
                  <a:solidFill>
                    <a:srgbClr val="5F6B7A"/>
                  </a:solidFill>
                  <a:latin typeface="Calibri"/>
                </a:rPr>
                <a:t>Sums the forecast over the supplier's lead time, plus a buffer that covers 95% of weeks.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957316" y="1965960"/>
            <a:ext cx="2521458" cy="2148840"/>
            <a:chOff x="5957316" y="1965960"/>
            <a:chExt cx="2521458" cy="2148840"/>
          </a:xfrm>
        </p:grpSpPr>
        <p:cxnSp>
          <p:nvCxnSpPr>
            <p:cNvPr id="17" name="Connector 16"/>
            <p:cNvCxnSpPr/>
            <p:nvPr/>
          </p:nvCxnSpPr>
          <p:spPr>
            <a:xfrm>
              <a:off x="5957316" y="1965960"/>
              <a:ext cx="0" cy="1737360"/>
            </a:xfrm>
            <a:prstGeom prst="line">
              <a:avLst/>
            </a:prstGeom>
            <a:ln w="9525">
              <a:solidFill>
                <a:srgbClr val="D5DA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6094476" y="1965960"/>
              <a:ext cx="73152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3000" b="0">
                  <a:solidFill>
                    <a:srgbClr val="1F3A5F"/>
                  </a:solidFill>
                  <a:latin typeface="Georgia"/>
                </a:rPr>
                <a:t>3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094476" y="2606039"/>
              <a:ext cx="2384298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600" b="1">
                  <a:solidFill>
                    <a:srgbClr val="1B1F24"/>
                  </a:solidFill>
                  <a:latin typeface="Calibri"/>
                </a:rPr>
                <a:t>Compare with stock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94476" y="3017520"/>
              <a:ext cx="2384298" cy="10972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300" b="0">
                  <a:solidFill>
                    <a:srgbClr val="5F6B7A"/>
                  </a:solidFill>
                  <a:latin typeface="Calibri"/>
                </a:rPr>
                <a:t>Checks stock on hand and on order against that need.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8707374" y="1965960"/>
            <a:ext cx="2521458" cy="2148840"/>
            <a:chOff x="8707374" y="1965960"/>
            <a:chExt cx="2521458" cy="2148840"/>
          </a:xfrm>
        </p:grpSpPr>
        <p:cxnSp>
          <p:nvCxnSpPr>
            <p:cNvPr id="22" name="Connector 21"/>
            <p:cNvCxnSpPr/>
            <p:nvPr/>
          </p:nvCxnSpPr>
          <p:spPr>
            <a:xfrm>
              <a:off x="8707374" y="1965960"/>
              <a:ext cx="0" cy="1737360"/>
            </a:xfrm>
            <a:prstGeom prst="line">
              <a:avLst/>
            </a:prstGeom>
            <a:ln w="9525">
              <a:solidFill>
                <a:srgbClr val="D5DA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8844534" y="1965960"/>
              <a:ext cx="73152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3000" b="0">
                  <a:solidFill>
                    <a:srgbClr val="1F3A5F"/>
                  </a:solidFill>
                  <a:latin typeface="Georgia"/>
                </a:rPr>
                <a:t>4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844534" y="2606039"/>
              <a:ext cx="2384298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600" b="1">
                  <a:solidFill>
                    <a:srgbClr val="1B1F24"/>
                  </a:solidFill>
                  <a:latin typeface="Calibri"/>
                </a:rPr>
                <a:t>Put a rupee value on it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844534" y="3017520"/>
              <a:ext cx="2384298" cy="10972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300" b="0">
                  <a:solidFill>
                    <a:srgbClr val="5F6B7A"/>
                  </a:solidFill>
                  <a:latin typeface="Calibri"/>
                </a:rPr>
                <a:t>Shortfall × price = sales at risk.</a:t>
              </a:r>
            </a:p>
            <a:p>
              <a:pPr algn="l"/>
              <a:r>
                <a:rPr sz="1300" b="0">
                  <a:solidFill>
                    <a:srgbClr val="5F6B7A"/>
                  </a:solidFill>
                  <a:latin typeface="Calibri"/>
                </a:rPr>
                <a:t>Excess × cost = cash locked.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94360" y="4160520"/>
            <a:ext cx="11000232" cy="1874519"/>
            <a:chOff x="594360" y="4160520"/>
            <a:chExt cx="11000232" cy="1874519"/>
          </a:xfrm>
        </p:grpSpPr>
        <p:sp>
          <p:nvSpPr>
            <p:cNvPr id="27" name="Rectangle 26"/>
            <p:cNvSpPr/>
            <p:nvPr/>
          </p:nvSpPr>
          <p:spPr>
            <a:xfrm>
              <a:off x="594360" y="4160520"/>
              <a:ext cx="11000232" cy="1874519"/>
            </a:xfrm>
            <a:prstGeom prst="rect">
              <a:avLst/>
            </a:prstGeom>
            <a:solidFill>
              <a:srgbClr val="F3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68680" y="4315968"/>
              <a:ext cx="10058400" cy="3200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100" b="1">
                  <a:solidFill>
                    <a:srgbClr val="5F6B7A"/>
                  </a:solidFill>
                  <a:latin typeface="Calibri"/>
                </a:rPr>
                <a:t>WORKED EXAMPLE  ·  Pillows (BED-PIL-021), 35-day supplier lead time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68680" y="4754880"/>
              <a:ext cx="160020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/>
              <a:r>
                <a:rPr sz="2800" b="0">
                  <a:solidFill>
                    <a:srgbClr val="1B1F24"/>
                  </a:solidFill>
                  <a:latin typeface="Georgia"/>
                </a:rPr>
                <a:t>197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68680" y="5440680"/>
              <a:ext cx="160020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/>
              <a:r>
                <a:rPr sz="1100" b="0">
                  <a:solidFill>
                    <a:srgbClr val="5F6B7A"/>
                  </a:solidFill>
                  <a:latin typeface="Calibri"/>
                </a:rPr>
                <a:t>units needed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542032" y="4754880"/>
              <a:ext cx="41148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/>
              <a:r>
                <a:rPr sz="2800" b="0">
                  <a:solidFill>
                    <a:srgbClr val="5F6B7A"/>
                  </a:solidFill>
                  <a:latin typeface="Georgia"/>
                </a:rPr>
                <a:t>−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026664" y="4754880"/>
              <a:ext cx="160020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/>
              <a:r>
                <a:rPr sz="2800" b="0">
                  <a:solidFill>
                    <a:srgbClr val="1B1F24"/>
                  </a:solidFill>
                  <a:latin typeface="Georgia"/>
                </a:rPr>
                <a:t>7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026664" y="5440680"/>
              <a:ext cx="160020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/>
              <a:r>
                <a:rPr sz="1100" b="0">
                  <a:solidFill>
                    <a:srgbClr val="5F6B7A"/>
                  </a:solidFill>
                  <a:latin typeface="Calibri"/>
                </a:rPr>
                <a:t>in stock + on order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700016" y="4754880"/>
              <a:ext cx="41148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/>
              <a:r>
                <a:rPr sz="2800" b="0">
                  <a:solidFill>
                    <a:srgbClr val="5F6B7A"/>
                  </a:solidFill>
                  <a:latin typeface="Georgia"/>
                </a:rPr>
                <a:t>=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184648" y="4754880"/>
              <a:ext cx="160020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/>
              <a:r>
                <a:rPr sz="2800" b="0">
                  <a:solidFill>
                    <a:srgbClr val="1B1F24"/>
                  </a:solidFill>
                  <a:latin typeface="Georgia"/>
                </a:rPr>
                <a:t>190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184648" y="5440680"/>
              <a:ext cx="160020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/>
              <a:r>
                <a:rPr sz="1100" b="0">
                  <a:solidFill>
                    <a:srgbClr val="5F6B7A"/>
                  </a:solidFill>
                  <a:latin typeface="Calibri"/>
                </a:rPr>
                <a:t>units short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858000" y="4754880"/>
              <a:ext cx="41148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/>
              <a:r>
                <a:rPr sz="2800" b="0">
                  <a:solidFill>
                    <a:srgbClr val="5F6B7A"/>
                  </a:solidFill>
                  <a:latin typeface="Georgia"/>
                </a:rPr>
                <a:t>×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342632" y="4754880"/>
              <a:ext cx="160020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/>
              <a:r>
                <a:rPr sz="2800" b="0">
                  <a:solidFill>
                    <a:srgbClr val="1B1F24"/>
                  </a:solidFill>
                  <a:latin typeface="Georgia"/>
                </a:rPr>
                <a:t>₹7,477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342632" y="5440680"/>
              <a:ext cx="160020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/>
              <a:r>
                <a:rPr sz="1100" b="0">
                  <a:solidFill>
                    <a:srgbClr val="5F6B7A"/>
                  </a:solidFill>
                  <a:latin typeface="Calibri"/>
                </a:rPr>
                <a:t>selling price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015984" y="4754880"/>
              <a:ext cx="41148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/>
              <a:r>
                <a:rPr sz="2800" b="0">
                  <a:solidFill>
                    <a:srgbClr val="5F6B7A"/>
                  </a:solidFill>
                  <a:latin typeface="Georgia"/>
                </a:rPr>
                <a:t>=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500616" y="4754880"/>
              <a:ext cx="160020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/>
              <a:r>
                <a:rPr sz="2800" b="0">
                  <a:solidFill>
                    <a:srgbClr val="B42318"/>
                  </a:solidFill>
                  <a:latin typeface="Georgia"/>
                </a:rPr>
                <a:t>₹14.2 L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500616" y="5440680"/>
              <a:ext cx="160020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/>
              <a:r>
                <a:rPr sz="1100" b="0">
                  <a:solidFill>
                    <a:srgbClr val="5F6B7A"/>
                  </a:solidFill>
                  <a:latin typeface="Calibri"/>
                </a:rPr>
                <a:t>sales at risk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Calibri"/>
              </a:rPr>
              <a:t>IMPLICATION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0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1B1F24"/>
                </a:solidFill>
                <a:latin typeface="Georgia"/>
              </a:rPr>
              <a:t>Clearing the excess releases twice the cash the reorders need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550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Calibri"/>
              </a:rPr>
              <a:t>Source: FORESIGHT risk engine, artifacts/risk_snapshot.csv (stock as of 31 Dec 2025, NorthBay Living sample data). Reorder cost = shortfall units × unit cost. Assumes excess stock sells through.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Calibri"/>
              </a:rPr>
              <a:t>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" y="2011680"/>
          <a:ext cx="722376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0" y="201168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>
                <a:solidFill>
                  <a:srgbClr val="B76E00"/>
                </a:solidFill>
                <a:latin typeface="Georgia"/>
              </a:rPr>
              <a:t>2.1×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83464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Calibri"/>
              </a:rPr>
              <a:t>the cash the reorders need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0" y="3520440"/>
            <a:ext cx="3108960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12480" y="3657600"/>
            <a:ext cx="3200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Calibri"/>
              </a:rPr>
              <a:t>Even at 20% off, excess stock still sells above cost: the lowest-priced SKU sells at 1.6× its cost.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0" y="4754880"/>
            <a:ext cx="3108960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0" y="489204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1F24"/>
                </a:solidFill>
                <a:latin typeface="Calibri"/>
              </a:rPr>
              <a:t>Revenue the reorders protect: ₹58.8 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Calibri"/>
              </a:rPr>
              <a:t>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0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1B1F24"/>
                </a:solidFill>
                <a:latin typeface="Georgia"/>
              </a:rPr>
              <a:t>Three approvals protect ₹58.8 L of sales, funded by stock we already own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550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Calibri"/>
              </a:rPr>
              <a:t>Source: FORESIGHT risk engine, artifacts/risk_snapshot.csv (stock as of 31 Dec 2025, NorthBay Living sample data). Owners are proposals.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Calibri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828800"/>
          <a:ext cx="11000232" cy="34747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11480"/>
                <a:gridCol w="4206240"/>
                <a:gridCol w="2651760"/>
                <a:gridCol w="1737360"/>
                <a:gridCol w="1993392"/>
              </a:tblGrid>
              <a:tr h="868680">
                <a:tc>
                  <a:txBody>
                    <a:bodyPr wrap="square"/>
                    <a:lstStyle/>
                    <a:p/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F6B7A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F6B7A"/>
                          </a:solidFill>
                          <a:latin typeface="Calibri"/>
                        </a:rPr>
                        <a:t>Money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F6B7A"/>
                          </a:solidFill>
                          <a:latin typeface="Calibri"/>
                        </a:rPr>
                        <a:t>Proposed owner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F6B7A"/>
                          </a:solidFill>
                          <a:latin typeface="Calibri"/>
                        </a:rPr>
                        <a:t>Done when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Release purchase orders for the 10 short SKUs, top five first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₹27.1 L spend, protects ₹58.8 L of sales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Head of Operations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All POs placed this week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Clear excess on 9 SKUs, starting with one cushion line that holds 41% of the locked cash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Releases up to ₹57.2 L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Merchandising Lead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Markdowns live within 2 weeks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Run the weekly buying review from the FORESIGHT queue for 90 days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No new spend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COO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Review held every Monday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94360" y="2880360"/>
            <a:ext cx="54864" cy="50292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3749039"/>
            <a:ext cx="54864" cy="502920"/>
          </a:xfrm>
          <a:prstGeom prst="rect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4617720"/>
            <a:ext cx="54864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Calibri"/>
              </a:rPr>
              <a:t>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0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1B1F24"/>
                </a:solidFill>
                <a:latin typeface="Georgia"/>
              </a:rPr>
              <a:t>The next 90 days, judged on three numbers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550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Calibri"/>
              </a:rPr>
              <a:t>Targets are proposals for leadership to confirm. Today's values: artifacts/risk_snapshot.csv and back-test re-run.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1778507" cy="1280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16504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WEEKS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160477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Calibri"/>
              </a:rPr>
              <a:t>Place the 10 purchase orders. Move the Monday buying review to the FORESIGHT queue.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7732" y="1828800"/>
            <a:ext cx="1778507" cy="1280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7732" y="2057400"/>
            <a:ext cx="16504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WEEKS 3–4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7732" y="2377440"/>
            <a:ext cx="160477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Calibri"/>
              </a:rPr>
              <a:t>Launch markdowns on the 9 overstocked SKUs. Reorders start landing.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1104" y="1828800"/>
            <a:ext cx="7278624" cy="1280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1104" y="2057400"/>
            <a:ext cx="7150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WEEKS 5–12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2377440"/>
            <a:ext cx="71048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Calibri"/>
              </a:rPr>
              <a:t>Connect the ERP stock feed so the queue refreshes itself. Report the three numbers weekly.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94360" y="3886200"/>
          <a:ext cx="11000232" cy="21945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486400"/>
                <a:gridCol w="2560320"/>
                <a:gridCol w="2953512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F6B7A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F6B7A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F6B7A"/>
                          </a:solidFill>
                          <a:latin typeface="Calibri"/>
                        </a:rPr>
                        <a:t>Proposed 90-day target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SKUs short of stock before their next delivery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Cash tied up in excess stock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₹57.2 L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Below ₹28.6 L (half)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Forecast error (WAPE) on live weeks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20.8% in back-test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Calibri"/>
                        </a:rPr>
                        <a:t>21% or better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Calibri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0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1B1F24"/>
                </a:solidFill>
                <a:latin typeface="Georgia"/>
              </a:rPr>
              <a:t>How to read these numbers: method, assumptions, and limits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550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Calibri"/>
              </a:rPr>
              <a:t>Sources: src/config.py, src/backtest.py, src/risk.py, data/sample/*.csv.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METHOD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2240280"/>
            <a:ext cx="5120640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2331720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Calibri"/>
              </a:rPr>
              <a:t>Data: 40 SKUs, 104 weeks, 25,893 daily sales rows, stock snapshot 31 Dec 2025.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3017520"/>
            <a:ext cx="5120640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3108960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Calibri"/>
              </a:rPr>
              <a:t>Forecast test: 4 rolling windows, 8 weeks each; the model only sees data before each window.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3794760"/>
            <a:ext cx="5120640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3886200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Calibri"/>
              </a:rPr>
              <a:t>Safety buffer: covers 95% of weeks, scaled by supplier lead time.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4572000"/>
            <a:ext cx="5120640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4663440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Calibri"/>
              </a:rPr>
              <a:t>Overstock: stock beyond 12 weeks of forecast demand plus the buffer.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5349240"/>
            <a:ext cx="5120640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5440679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Calibri"/>
              </a:rPr>
              <a:t>Rupee values: shortfall × selling price; excess × unit cost.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8288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LIMITS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63640" y="2240280"/>
            <a:ext cx="5120640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63640" y="2331720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Calibri"/>
              </a:rPr>
              <a:t>Sample data set, not live NorthBay feeds. Re-run on live data before committing spend.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63640" y="3017520"/>
            <a:ext cx="5120640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63640" y="3108960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Calibri"/>
              </a:rPr>
              <a:t>The back-test scores each week with the latest actuals known; accuracy 8 weeks out will be lower.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63640" y="3794760"/>
            <a:ext cx="5120640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63640" y="3886200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Calibri"/>
              </a:rPr>
              <a:t>One stock snapshot. Positions change weekly, hence the weekly rhythm.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63640" y="4572000"/>
            <a:ext cx="5120640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63640" y="4663440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Calibri"/>
              </a:rPr>
              <a:t>Sales at risk is a ceiling: it assumes every short unit would have sold.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Calibri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0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1B1F24"/>
                </a:solidFill>
                <a:latin typeface="Georgia"/>
              </a:rPr>
              <a:t>One engine, two doors: a dashboard for planners and an API for the ERP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550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Calibri"/>
              </a:rPr>
              <a:t>Source: repository (src/, app/, service/, api/); 23 of 23 automated tests passing (pytest, 27 Sep 2026).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F6B7A"/>
                </a:solidFill>
                <a:latin typeface="Calibri"/>
              </a:rPr>
              <a:t>INPUTS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331720"/>
            <a:ext cx="1828800" cy="457200"/>
          </a:xfrm>
          <a:prstGeom prst="rect">
            <a:avLst/>
          </a:prstGeom>
          <a:noFill/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B1F24"/>
                </a:solidFill>
                <a:latin typeface="Calibri"/>
              </a:rPr>
              <a:t>Daily sales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898648"/>
            <a:ext cx="1828800" cy="457200"/>
          </a:xfrm>
          <a:prstGeom prst="rect">
            <a:avLst/>
          </a:prstGeom>
          <a:noFill/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898648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B1F24"/>
                </a:solidFill>
                <a:latin typeface="Calibri"/>
              </a:rPr>
              <a:t>SKU price &amp; 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465576"/>
            <a:ext cx="1828800" cy="457200"/>
          </a:xfrm>
          <a:prstGeom prst="rect">
            <a:avLst/>
          </a:prstGeom>
          <a:noFill/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465576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B1F24"/>
                </a:solidFill>
                <a:latin typeface="Calibri"/>
              </a:rPr>
              <a:t>Promo calendar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032504"/>
            <a:ext cx="1828800" cy="457200"/>
          </a:xfrm>
          <a:prstGeom prst="rect">
            <a:avLst/>
          </a:prstGeom>
          <a:noFill/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032504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B1F24"/>
                </a:solidFill>
                <a:latin typeface="Calibri"/>
              </a:rPr>
              <a:t>Stock &amp; open orders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560320" y="3310128"/>
            <a:ext cx="365760" cy="201168"/>
          </a:xfrm>
          <a:prstGeom prst="rightArrow">
            <a:avLst/>
          </a:prstGeom>
          <a:solidFill>
            <a:srgbClr val="C9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63240" y="2834640"/>
            <a:ext cx="1828800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2834640"/>
            <a:ext cx="18288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Clean &amp;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06908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>5 cleaning rules,</a:t>
            </a:r>
          </a:p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>weekly roll-up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37760" y="3310128"/>
            <a:ext cx="320040" cy="201168"/>
          </a:xfrm>
          <a:prstGeom prst="rightArrow">
            <a:avLst/>
          </a:prstGeom>
          <a:solidFill>
            <a:srgbClr val="C9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3520" y="2834640"/>
            <a:ext cx="1828800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2834640"/>
            <a:ext cx="18288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Forecast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06908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>Random forest,</a:t>
            </a:r>
          </a:p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>8 weeks ahead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78040" y="3310128"/>
            <a:ext cx="320040" cy="201168"/>
          </a:xfrm>
          <a:prstGeom prst="rightArrow">
            <a:avLst/>
          </a:prstGeom>
          <a:solidFill>
            <a:srgbClr val="C9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43800" y="2834640"/>
            <a:ext cx="1828800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2834640"/>
            <a:ext cx="18288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Risk &amp; ₹ 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406908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>95% buffer,</a:t>
            </a:r>
          </a:p>
          <a:p>
            <a:pPr algn="ctr"/>
            <a:r>
              <a:rPr sz="1100" b="0">
                <a:solidFill>
                  <a:srgbClr val="5F6B7A"/>
                </a:solidFill>
                <a:latin typeface="Calibri"/>
              </a:rPr>
              <a:t>12-week excess window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24688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Calibri"/>
              </a:rPr>
              <a:t>FORESIGHT ENGINE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281160" y="3310128"/>
            <a:ext cx="365760" cy="201168"/>
          </a:xfrm>
          <a:prstGeom prst="rightArrow">
            <a:avLst/>
          </a:prstGeom>
          <a:solidFill>
            <a:srgbClr val="C9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38360" y="2377440"/>
            <a:ext cx="1856231" cy="1005840"/>
          </a:xfrm>
          <a:prstGeom prst="rect">
            <a:avLst/>
          </a:prstGeom>
          <a:noFill/>
          <a:ln w="12700">
            <a:solidFill>
              <a:srgbClr val="1B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2514600"/>
            <a:ext cx="1856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B1F24"/>
                </a:solidFill>
                <a:latin typeface="Calibri"/>
              </a:rPr>
              <a:t>Planner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2880360"/>
            <a:ext cx="1856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Calibri"/>
              </a:rPr>
              <a:t>Ranked queue, CSV export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38360" y="3611880"/>
            <a:ext cx="1856231" cy="1005840"/>
          </a:xfrm>
          <a:prstGeom prst="rect">
            <a:avLst/>
          </a:prstGeom>
          <a:noFill/>
          <a:ln w="12700">
            <a:solidFill>
              <a:srgbClr val="1B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3749040"/>
            <a:ext cx="1856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B1F24"/>
                </a:solidFill>
                <a:latin typeface="Calibri"/>
              </a:rPr>
              <a:t>Scoring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4114800"/>
            <a:ext cx="1856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B7A"/>
                </a:solidFill>
                <a:latin typeface="Calibri"/>
              </a:rPr>
              <a:t>For ERP / warehouse systems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4360" y="512064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94360" y="5257800"/>
            <a:ext cx="110002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B1F24"/>
                </a:solidFill>
                <a:latin typeface="Georgia"/>
              </a:rPr>
              <a:t>23 automated tests, including one that confirms the dashboard and the API return identical scores for the same SKU.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