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</c:v>
                </c:pt>
              </c:strCache>
            </c:strRef>
          </c:tx>
          <c:dPt>
            <c:idx val="0"/>
            <c:spPr>
              <a:solidFill>
                <a:srgbClr val="1F3A5F"/>
              </a:solidFill>
            </c:spPr>
          </c:dPt>
          <c:dPt>
            <c:idx val="1"/>
            <c:spPr>
              <a:solidFill>
                <a:srgbClr val="B76E00"/>
              </a:solidFill>
            </c:spPr>
          </c:dPt>
          <c:cat>
            <c:strRef>
              <c:f>Sheet1!$A$2:$A$3</c:f>
              <c:strCache>
                <c:ptCount val="2"/>
                <c:pt idx="0">
                  <c:v>Cash needed to close all 10 gaps (at cost)</c:v>
                </c:pt>
                <c:pt idx="1">
                  <c:v>Cash tied up in the 9 overstocked SKUs (at cost)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27.064254909999995</c:v>
                </c:pt>
                <c:pt idx="1">
                  <c:v>57.162005</c:v>
                </c:pt>
              </c:numCache>
            </c:numRef>
          </c:val>
        </c:ser>
        <c:dLbls>
          <c:numFmt formatCode="&quot;₹&quot;0.0&quot; L&quot;" sourceLinked="0"/>
          <c:txPr>
            <a:bodyPr/>
            <a:lstStyle/>
            <a:p>
              <a:pPr>
                <a:defRPr sz="14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nextTo"/>
        <c:spPr>
          <a:ln>
            <a:solidFill>
              <a:srgbClr val="D5DAE1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400">
          <a:solidFill>
            <a:srgbClr val="1B1F24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NorthBay, a 40-SKU home brand, as the mirror: 'Does this look like your range?'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Before/after. Read across each row.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what a planner opens on Monday. Sorted by rupees, with the reason in plain words.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step per click. Keep it to the question: will stock last until the next delivery?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numbers, one click each.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 the CFO in the room: no new working capital.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Finance teams adopt what they can audit.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Low-commitment entry: results on their own history before any process change.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on the data request and a date for the back-test readout.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94360" y="6355080"/>
            <a:ext cx="11000232" cy="0"/>
          </a:xfrm>
          <a:prstGeom prst="line">
            <a:avLst/>
          </a:prstGeom>
          <a:ln w="9525">
            <a:solidFill>
              <a:srgbClr val="D5DA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94360" y="6419088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F6B7A"/>
                </a:solidFill>
                <a:latin typeface="Calibri"/>
              </a:rPr>
              <a:t>FORESIGHT · Proof points from the NorthBay Living pilot analysis (sample data)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37392" y="641908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5F6B7A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4173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F3A5F"/>
                </a:solidFill>
                <a:latin typeface="Calibri"/>
              </a:rPr>
              <a:t>FORESIGHT  ·  DEMAND &amp; INVENTORY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874519"/>
            <a:ext cx="105156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0">
                <a:solidFill>
                  <a:srgbClr val="1B1F24"/>
                </a:solidFill>
                <a:latin typeface="Georgia"/>
              </a:rPr>
              <a:t>Every Monday: what to buy,</a:t>
            </a:r>
          </a:p>
          <a:p>
            <a:pPr algn="l"/>
            <a:r>
              <a:rPr sz="4200" b="0">
                <a:solidFill>
                  <a:srgbClr val="1B1F24"/>
                </a:solidFill>
                <a:latin typeface="Georgia"/>
              </a:rPr>
              <a:t>what to clear, and what it's worth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886200"/>
            <a:ext cx="8961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5F6B7A"/>
                </a:solidFill>
                <a:latin typeface="Calibri"/>
              </a:rPr>
              <a:t>For D2C brands that run out of bestsellers while cash sits in slow stock.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566928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B1F24"/>
                </a:solidFill>
                <a:latin typeface="Calibri"/>
              </a:rPr>
              <a:t>Prepared by Anshul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1F3A5F"/>
                </a:solidFill>
                <a:latin typeface="Calibri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100023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0">
                <a:solidFill>
                  <a:srgbClr val="1B1F24"/>
                </a:solidFill>
                <a:latin typeface="Georgia"/>
              </a:rPr>
              <a:t>Growing brands run short and overstocked at the same time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6355080"/>
            <a:ext cx="11000232" cy="0"/>
          </a:xfrm>
          <a:prstGeom prst="line">
            <a:avLst/>
          </a:prstGeom>
          <a:ln w="9525">
            <a:solidFill>
              <a:srgbClr val="D5DA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94360" y="6419088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F6B7A"/>
                </a:solidFill>
                <a:latin typeface="Calibri"/>
              </a:rPr>
              <a:t>Source: FORESIGHT risk engine, artifacts/risk_snapshot.csv (stock as of 31 Dec 2025, NorthBay Living sample data). Each square is one SKU.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37392" y="641908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5F6B7A"/>
                </a:solidFill>
                <a:latin typeface="Calibri"/>
              </a:rPr>
              <a:t>2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594360" y="1965960"/>
            <a:ext cx="3291840" cy="3246120"/>
            <a:chOff x="594360" y="1965960"/>
            <a:chExt cx="3291840" cy="3246120"/>
          </a:xfrm>
        </p:grpSpPr>
        <p:sp>
          <p:nvSpPr>
            <p:cNvPr id="8" name="TextBox 7"/>
            <p:cNvSpPr txBox="1"/>
            <p:nvPr/>
          </p:nvSpPr>
          <p:spPr>
            <a:xfrm>
              <a:off x="594360" y="1965960"/>
              <a:ext cx="3291840" cy="27432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/>
              <a:r>
                <a:rPr sz="1200" b="1">
                  <a:solidFill>
                    <a:srgbClr val="B42318"/>
                  </a:solidFill>
                  <a:latin typeface="Calibri"/>
                </a:rPr>
                <a:t>RUNNING SHORT  ·  10 SKUs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594360" y="2377440"/>
              <a:ext cx="384048" cy="384048"/>
            </a:xfrm>
            <a:prstGeom prst="rect">
              <a:avLst/>
            </a:prstGeom>
            <a:solidFill>
              <a:srgbClr val="B4231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069848" y="2377440"/>
              <a:ext cx="384048" cy="384048"/>
            </a:xfrm>
            <a:prstGeom prst="rect">
              <a:avLst/>
            </a:prstGeom>
            <a:solidFill>
              <a:srgbClr val="B4231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545336" y="2377440"/>
              <a:ext cx="384048" cy="384048"/>
            </a:xfrm>
            <a:prstGeom prst="rect">
              <a:avLst/>
            </a:prstGeom>
            <a:solidFill>
              <a:srgbClr val="B4231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2020824" y="2377440"/>
              <a:ext cx="384048" cy="384048"/>
            </a:xfrm>
            <a:prstGeom prst="rect">
              <a:avLst/>
            </a:prstGeom>
            <a:solidFill>
              <a:srgbClr val="B4231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2496312" y="2377440"/>
              <a:ext cx="384048" cy="384048"/>
            </a:xfrm>
            <a:prstGeom prst="rect">
              <a:avLst/>
            </a:prstGeom>
            <a:solidFill>
              <a:srgbClr val="B4231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594360" y="2852928"/>
              <a:ext cx="384048" cy="384048"/>
            </a:xfrm>
            <a:prstGeom prst="rect">
              <a:avLst/>
            </a:prstGeom>
            <a:solidFill>
              <a:srgbClr val="B4231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069848" y="2852928"/>
              <a:ext cx="384048" cy="384048"/>
            </a:xfrm>
            <a:prstGeom prst="rect">
              <a:avLst/>
            </a:prstGeom>
            <a:solidFill>
              <a:srgbClr val="B4231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545336" y="2852928"/>
              <a:ext cx="384048" cy="384048"/>
            </a:xfrm>
            <a:prstGeom prst="rect">
              <a:avLst/>
            </a:prstGeom>
            <a:solidFill>
              <a:srgbClr val="B4231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2020824" y="2852928"/>
              <a:ext cx="384048" cy="384048"/>
            </a:xfrm>
            <a:prstGeom prst="rect">
              <a:avLst/>
            </a:prstGeom>
            <a:solidFill>
              <a:srgbClr val="B4231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2496312" y="2852928"/>
              <a:ext cx="384048" cy="384048"/>
            </a:xfrm>
            <a:prstGeom prst="rect">
              <a:avLst/>
            </a:prstGeom>
            <a:solidFill>
              <a:srgbClr val="B4231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594360" y="3977639"/>
              <a:ext cx="3291840" cy="54864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/>
              <a:r>
                <a:rPr sz="3000" b="0">
                  <a:solidFill>
                    <a:srgbClr val="1B1F24"/>
                  </a:solidFill>
                  <a:latin typeface="Georgia"/>
                </a:rPr>
                <a:t>₹58.8 L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594360" y="4572000"/>
              <a:ext cx="3291840" cy="64008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/>
              <a:r>
                <a:rPr sz="1300" b="0">
                  <a:solidFill>
                    <a:srgbClr val="5F6B7A"/>
                  </a:solidFill>
                  <a:latin typeface="Calibri"/>
                </a:rPr>
                <a:t>sales at risk before the</a:t>
              </a:r>
            </a:p>
            <a:p>
              <a:pPr algn="l"/>
              <a:r>
                <a:rPr sz="1300" b="0">
                  <a:solidFill>
                    <a:srgbClr val="5F6B7A"/>
                  </a:solidFill>
                  <a:latin typeface="Calibri"/>
                </a:rPr>
                <a:t>next supplier delivery</a:t>
              </a:r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4206240" y="1965960"/>
            <a:ext cx="3291840" cy="3246120"/>
            <a:chOff x="4206240" y="1965960"/>
            <a:chExt cx="3291840" cy="3246120"/>
          </a:xfrm>
        </p:grpSpPr>
        <p:sp>
          <p:nvSpPr>
            <p:cNvPr id="22" name="TextBox 21"/>
            <p:cNvSpPr txBox="1"/>
            <p:nvPr/>
          </p:nvSpPr>
          <p:spPr>
            <a:xfrm>
              <a:off x="4206240" y="1965960"/>
              <a:ext cx="3291840" cy="27432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/>
              <a:r>
                <a:rPr sz="1200" b="1">
                  <a:solidFill>
                    <a:srgbClr val="B76E00"/>
                  </a:solidFill>
                  <a:latin typeface="Calibri"/>
                </a:rPr>
                <a:t>OVERSTOCKED  ·  9 SKUs</a:t>
              </a: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4206240" y="2377440"/>
              <a:ext cx="384048" cy="384048"/>
            </a:xfrm>
            <a:prstGeom prst="rect">
              <a:avLst/>
            </a:prstGeom>
            <a:solidFill>
              <a:srgbClr val="B76E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Rectangle 23"/>
            <p:cNvSpPr/>
            <p:nvPr/>
          </p:nvSpPr>
          <p:spPr>
            <a:xfrm>
              <a:off x="4681727" y="2377440"/>
              <a:ext cx="384048" cy="384048"/>
            </a:xfrm>
            <a:prstGeom prst="rect">
              <a:avLst/>
            </a:prstGeom>
            <a:solidFill>
              <a:srgbClr val="B76E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5157216" y="2377440"/>
              <a:ext cx="384048" cy="384048"/>
            </a:xfrm>
            <a:prstGeom prst="rect">
              <a:avLst/>
            </a:prstGeom>
            <a:solidFill>
              <a:srgbClr val="B76E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5632704" y="2377440"/>
              <a:ext cx="384048" cy="384048"/>
            </a:xfrm>
            <a:prstGeom prst="rect">
              <a:avLst/>
            </a:prstGeom>
            <a:solidFill>
              <a:srgbClr val="B76E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6108192" y="2377440"/>
              <a:ext cx="384048" cy="384048"/>
            </a:xfrm>
            <a:prstGeom prst="rect">
              <a:avLst/>
            </a:prstGeom>
            <a:solidFill>
              <a:srgbClr val="B76E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4206240" y="2852928"/>
              <a:ext cx="384048" cy="384048"/>
            </a:xfrm>
            <a:prstGeom prst="rect">
              <a:avLst/>
            </a:prstGeom>
            <a:solidFill>
              <a:srgbClr val="B76E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4681727" y="2852928"/>
              <a:ext cx="384048" cy="384048"/>
            </a:xfrm>
            <a:prstGeom prst="rect">
              <a:avLst/>
            </a:prstGeom>
            <a:solidFill>
              <a:srgbClr val="B76E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5157216" y="2852928"/>
              <a:ext cx="384048" cy="384048"/>
            </a:xfrm>
            <a:prstGeom prst="rect">
              <a:avLst/>
            </a:prstGeom>
            <a:solidFill>
              <a:srgbClr val="B76E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5632704" y="2852928"/>
              <a:ext cx="384048" cy="384048"/>
            </a:xfrm>
            <a:prstGeom prst="rect">
              <a:avLst/>
            </a:prstGeom>
            <a:solidFill>
              <a:srgbClr val="B76E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4206240" y="3977639"/>
              <a:ext cx="3291840" cy="54864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/>
              <a:r>
                <a:rPr sz="3000" b="0">
                  <a:solidFill>
                    <a:srgbClr val="1B1F24"/>
                  </a:solidFill>
                  <a:latin typeface="Georgia"/>
                </a:rPr>
                <a:t>₹57.2 L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4206240" y="4572000"/>
              <a:ext cx="3291840" cy="64008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/>
              <a:r>
                <a:rPr sz="1300" b="0">
                  <a:solidFill>
                    <a:srgbClr val="5F6B7A"/>
                  </a:solidFill>
                  <a:latin typeface="Calibri"/>
                </a:rPr>
                <a:t>cash tied up in stock the next</a:t>
              </a:r>
            </a:p>
            <a:p>
              <a:pPr algn="l"/>
              <a:r>
                <a:rPr sz="1300" b="0">
                  <a:solidFill>
                    <a:srgbClr val="5F6B7A"/>
                  </a:solidFill>
                  <a:latin typeface="Calibri"/>
                </a:rPr>
                <a:t>12 weeks will not sell</a:t>
              </a:r>
            </a:p>
          </p:txBody>
        </p:sp>
      </p:grpSp>
      <p:grpSp>
        <p:nvGrpSpPr>
          <p:cNvPr id="34" name="Group 33"/>
          <p:cNvGrpSpPr/>
          <p:nvPr/>
        </p:nvGrpSpPr>
        <p:grpSpPr>
          <a:xfrm>
            <a:off x="7818120" y="1965960"/>
            <a:ext cx="3291840" cy="3246120"/>
            <a:chOff x="7818120" y="1965960"/>
            <a:chExt cx="3291840" cy="3246120"/>
          </a:xfrm>
        </p:grpSpPr>
        <p:sp>
          <p:nvSpPr>
            <p:cNvPr id="35" name="TextBox 34"/>
            <p:cNvSpPr txBox="1"/>
            <p:nvPr/>
          </p:nvSpPr>
          <p:spPr>
            <a:xfrm>
              <a:off x="7818120" y="1965960"/>
              <a:ext cx="3291840" cy="27432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/>
              <a:r>
                <a:rPr sz="1200" b="1">
                  <a:solidFill>
                    <a:srgbClr val="5F6B7A"/>
                  </a:solidFill>
                  <a:latin typeface="Calibri"/>
                </a:rPr>
                <a:t>HEALTHY  ·  21 SKUs</a:t>
              </a:r>
            </a:p>
          </p:txBody>
        </p:sp>
        <p:sp>
          <p:nvSpPr>
            <p:cNvPr id="36" name="Rectangle 35"/>
            <p:cNvSpPr/>
            <p:nvPr/>
          </p:nvSpPr>
          <p:spPr>
            <a:xfrm>
              <a:off x="7818120" y="2377440"/>
              <a:ext cx="384048" cy="384048"/>
            </a:xfrm>
            <a:prstGeom prst="rect">
              <a:avLst/>
            </a:prstGeom>
            <a:solidFill>
              <a:srgbClr val="C9CF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Rectangle 36"/>
            <p:cNvSpPr/>
            <p:nvPr/>
          </p:nvSpPr>
          <p:spPr>
            <a:xfrm>
              <a:off x="8293608" y="2377440"/>
              <a:ext cx="384048" cy="384048"/>
            </a:xfrm>
            <a:prstGeom prst="rect">
              <a:avLst/>
            </a:prstGeom>
            <a:solidFill>
              <a:srgbClr val="C9CF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Rectangle 37"/>
            <p:cNvSpPr/>
            <p:nvPr/>
          </p:nvSpPr>
          <p:spPr>
            <a:xfrm>
              <a:off x="8769096" y="2377440"/>
              <a:ext cx="384048" cy="384048"/>
            </a:xfrm>
            <a:prstGeom prst="rect">
              <a:avLst/>
            </a:prstGeom>
            <a:solidFill>
              <a:srgbClr val="C9CF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Rectangle 38"/>
            <p:cNvSpPr/>
            <p:nvPr/>
          </p:nvSpPr>
          <p:spPr>
            <a:xfrm>
              <a:off x="9244584" y="2377440"/>
              <a:ext cx="384048" cy="384048"/>
            </a:xfrm>
            <a:prstGeom prst="rect">
              <a:avLst/>
            </a:prstGeom>
            <a:solidFill>
              <a:srgbClr val="C9CF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Rectangle 39"/>
            <p:cNvSpPr/>
            <p:nvPr/>
          </p:nvSpPr>
          <p:spPr>
            <a:xfrm>
              <a:off x="9720072" y="2377440"/>
              <a:ext cx="384048" cy="384048"/>
            </a:xfrm>
            <a:prstGeom prst="rect">
              <a:avLst/>
            </a:prstGeom>
            <a:solidFill>
              <a:srgbClr val="C9CF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Rectangle 40"/>
            <p:cNvSpPr/>
            <p:nvPr/>
          </p:nvSpPr>
          <p:spPr>
            <a:xfrm>
              <a:off x="10195560" y="2377440"/>
              <a:ext cx="384048" cy="384048"/>
            </a:xfrm>
            <a:prstGeom prst="rect">
              <a:avLst/>
            </a:prstGeom>
            <a:solidFill>
              <a:srgbClr val="C9CF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" name="Rectangle 41"/>
            <p:cNvSpPr/>
            <p:nvPr/>
          </p:nvSpPr>
          <p:spPr>
            <a:xfrm>
              <a:off x="10671048" y="2377440"/>
              <a:ext cx="384048" cy="384048"/>
            </a:xfrm>
            <a:prstGeom prst="rect">
              <a:avLst/>
            </a:prstGeom>
            <a:solidFill>
              <a:srgbClr val="C9CF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Rectangle 42"/>
            <p:cNvSpPr/>
            <p:nvPr/>
          </p:nvSpPr>
          <p:spPr>
            <a:xfrm>
              <a:off x="7818120" y="2852928"/>
              <a:ext cx="384048" cy="384048"/>
            </a:xfrm>
            <a:prstGeom prst="rect">
              <a:avLst/>
            </a:prstGeom>
            <a:solidFill>
              <a:srgbClr val="C9CF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" name="Rectangle 43"/>
            <p:cNvSpPr/>
            <p:nvPr/>
          </p:nvSpPr>
          <p:spPr>
            <a:xfrm>
              <a:off x="8293608" y="2852928"/>
              <a:ext cx="384048" cy="384048"/>
            </a:xfrm>
            <a:prstGeom prst="rect">
              <a:avLst/>
            </a:prstGeom>
            <a:solidFill>
              <a:srgbClr val="C9CF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Rectangle 44"/>
            <p:cNvSpPr/>
            <p:nvPr/>
          </p:nvSpPr>
          <p:spPr>
            <a:xfrm>
              <a:off x="8769096" y="2852928"/>
              <a:ext cx="384048" cy="384048"/>
            </a:xfrm>
            <a:prstGeom prst="rect">
              <a:avLst/>
            </a:prstGeom>
            <a:solidFill>
              <a:srgbClr val="C9CF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" name="Rectangle 45"/>
            <p:cNvSpPr/>
            <p:nvPr/>
          </p:nvSpPr>
          <p:spPr>
            <a:xfrm>
              <a:off x="9244584" y="2852928"/>
              <a:ext cx="384048" cy="384048"/>
            </a:xfrm>
            <a:prstGeom prst="rect">
              <a:avLst/>
            </a:prstGeom>
            <a:solidFill>
              <a:srgbClr val="C9CF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" name="Rectangle 46"/>
            <p:cNvSpPr/>
            <p:nvPr/>
          </p:nvSpPr>
          <p:spPr>
            <a:xfrm>
              <a:off x="9720072" y="2852928"/>
              <a:ext cx="384048" cy="384048"/>
            </a:xfrm>
            <a:prstGeom prst="rect">
              <a:avLst/>
            </a:prstGeom>
            <a:solidFill>
              <a:srgbClr val="C9CF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" name="Rectangle 47"/>
            <p:cNvSpPr/>
            <p:nvPr/>
          </p:nvSpPr>
          <p:spPr>
            <a:xfrm>
              <a:off x="10195560" y="2852928"/>
              <a:ext cx="384048" cy="384048"/>
            </a:xfrm>
            <a:prstGeom prst="rect">
              <a:avLst/>
            </a:prstGeom>
            <a:solidFill>
              <a:srgbClr val="C9CF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" name="Rectangle 48"/>
            <p:cNvSpPr/>
            <p:nvPr/>
          </p:nvSpPr>
          <p:spPr>
            <a:xfrm>
              <a:off x="10671048" y="2852928"/>
              <a:ext cx="384048" cy="384048"/>
            </a:xfrm>
            <a:prstGeom prst="rect">
              <a:avLst/>
            </a:prstGeom>
            <a:solidFill>
              <a:srgbClr val="C9CF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" name="Rectangle 49"/>
            <p:cNvSpPr/>
            <p:nvPr/>
          </p:nvSpPr>
          <p:spPr>
            <a:xfrm>
              <a:off x="7818120" y="3328416"/>
              <a:ext cx="384048" cy="384048"/>
            </a:xfrm>
            <a:prstGeom prst="rect">
              <a:avLst/>
            </a:prstGeom>
            <a:solidFill>
              <a:srgbClr val="C9CF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" name="Rectangle 50"/>
            <p:cNvSpPr/>
            <p:nvPr/>
          </p:nvSpPr>
          <p:spPr>
            <a:xfrm>
              <a:off x="8293608" y="3328416"/>
              <a:ext cx="384048" cy="384048"/>
            </a:xfrm>
            <a:prstGeom prst="rect">
              <a:avLst/>
            </a:prstGeom>
            <a:solidFill>
              <a:srgbClr val="C9CF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" name="Rectangle 51"/>
            <p:cNvSpPr/>
            <p:nvPr/>
          </p:nvSpPr>
          <p:spPr>
            <a:xfrm>
              <a:off x="8769096" y="3328416"/>
              <a:ext cx="384048" cy="384048"/>
            </a:xfrm>
            <a:prstGeom prst="rect">
              <a:avLst/>
            </a:prstGeom>
            <a:solidFill>
              <a:srgbClr val="C9CF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" name="Rectangle 52"/>
            <p:cNvSpPr/>
            <p:nvPr/>
          </p:nvSpPr>
          <p:spPr>
            <a:xfrm>
              <a:off x="9244584" y="3328416"/>
              <a:ext cx="384048" cy="384048"/>
            </a:xfrm>
            <a:prstGeom prst="rect">
              <a:avLst/>
            </a:prstGeom>
            <a:solidFill>
              <a:srgbClr val="C9CF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" name="Rectangle 53"/>
            <p:cNvSpPr/>
            <p:nvPr/>
          </p:nvSpPr>
          <p:spPr>
            <a:xfrm>
              <a:off x="9720072" y="3328416"/>
              <a:ext cx="384048" cy="384048"/>
            </a:xfrm>
            <a:prstGeom prst="rect">
              <a:avLst/>
            </a:prstGeom>
            <a:solidFill>
              <a:srgbClr val="C9CF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" name="Rectangle 54"/>
            <p:cNvSpPr/>
            <p:nvPr/>
          </p:nvSpPr>
          <p:spPr>
            <a:xfrm>
              <a:off x="10195560" y="3328416"/>
              <a:ext cx="384048" cy="384048"/>
            </a:xfrm>
            <a:prstGeom prst="rect">
              <a:avLst/>
            </a:prstGeom>
            <a:solidFill>
              <a:srgbClr val="C9CF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" name="Rectangle 55"/>
            <p:cNvSpPr/>
            <p:nvPr/>
          </p:nvSpPr>
          <p:spPr>
            <a:xfrm>
              <a:off x="10671048" y="3328416"/>
              <a:ext cx="384048" cy="384048"/>
            </a:xfrm>
            <a:prstGeom prst="rect">
              <a:avLst/>
            </a:prstGeom>
            <a:solidFill>
              <a:srgbClr val="C9CF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7818120" y="3977639"/>
              <a:ext cx="3291840" cy="54864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/>
              <a:r>
                <a:rPr sz="3000" b="0">
                  <a:solidFill>
                    <a:srgbClr val="1B1F24"/>
                  </a:solidFill>
                  <a:latin typeface="Georgia"/>
                </a:rPr>
                <a:t>21 SKUs</a:t>
              </a:r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7818120" y="4572000"/>
              <a:ext cx="3291840" cy="64008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/>
              <a:r>
                <a:rPr sz="1300" b="0">
                  <a:solidFill>
                    <a:srgbClr val="5F6B7A"/>
                  </a:solidFill>
                  <a:latin typeface="Calibri"/>
                </a:rPr>
                <a:t>stock covers demand, with</a:t>
              </a:r>
            </a:p>
            <a:p>
              <a:pPr algn="l"/>
              <a:r>
                <a:rPr sz="1300" b="0">
                  <a:solidFill>
                    <a:srgbClr val="5F6B7A"/>
                  </a:solidFill>
                  <a:latin typeface="Calibri"/>
                </a:rPr>
                <a:t>a safety buffer</a:t>
              </a:r>
            </a:p>
          </p:txBody>
        </p:sp>
      </p:grpSp>
      <p:sp>
        <p:nvSpPr>
          <p:cNvPr id="59" name="TextBox 58"/>
          <p:cNvSpPr txBox="1"/>
          <p:nvPr/>
        </p:nvSpPr>
        <p:spPr>
          <a:xfrm>
            <a:off x="594360" y="5577840"/>
            <a:ext cx="1100023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1B1F24"/>
                </a:solidFill>
                <a:latin typeface="Georgia"/>
              </a:rPr>
              <a:t>At NorthBay Living, a 40-SKU home brand, on a single day.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1F3A5F"/>
                </a:solidFill>
                <a:latin typeface="Calibri"/>
              </a:rPr>
              <a:t>WHY IT PERSISTS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100023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0">
                <a:solidFill>
                  <a:srgbClr val="1B1F24"/>
                </a:solidFill>
                <a:latin typeface="Georgia"/>
              </a:rPr>
              <a:t>Spreadsheet planning treats a ₹14 lakh problem the same as a ₹0 one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6355080"/>
            <a:ext cx="11000232" cy="0"/>
          </a:xfrm>
          <a:prstGeom prst="line">
            <a:avLst/>
          </a:prstGeom>
          <a:ln w="9525">
            <a:solidFill>
              <a:srgbClr val="D5DA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94360" y="6419088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F6B7A"/>
                </a:solidFill>
                <a:latin typeface="Calibri"/>
              </a:rPr>
              <a:t>Source: FORESIGHT project report (spreadsheet practice); FORESIGHT capabilities verified in repository.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37392" y="641908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5F6B7A"/>
                </a:solidFill>
                <a:latin typeface="Calibri"/>
              </a:rPr>
              <a:t>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828800"/>
          <a:ext cx="11000232" cy="3950208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743200"/>
                <a:gridCol w="3931920"/>
                <a:gridCol w="4325112"/>
              </a:tblGrid>
              <a:tr h="658368">
                <a:tc>
                  <a:txBody>
                    <a:bodyPr wrap="square"/>
                    <a:lstStyle/>
                    <a:p/>
                  </a:txBody>
                  <a:tcPr marL="73152" marR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AE1"/>
                      </a:solidFill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4-week-average spreadsheet</a:t>
                      </a:r>
                    </a:p>
                  </a:txBody>
                  <a:tcPr marL="73152" marR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AE1"/>
                      </a:solidFill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FORESIGHT</a:t>
                      </a:r>
                    </a:p>
                  </a:txBody>
                  <a:tcPr marL="73152" marR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AE1"/>
                      </a:solidFill>
                    </a:lnB>
                    <a:solidFill>
                      <a:srgbClr val="1F3A5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B1F24"/>
                          </a:solidFill>
                          <a:latin typeface="Calibri"/>
                        </a:rPr>
                        <a:t>Looks ahead</a:t>
                      </a:r>
                    </a:p>
                  </a:txBody>
                  <a:tcPr marL="73152" marR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B1F24"/>
                          </a:solidFill>
                          <a:latin typeface="Calibri"/>
                        </a:rPr>
                        <a:t>Repeats the last month</a:t>
                      </a:r>
                    </a:p>
                  </a:txBody>
                  <a:tcPr marL="73152" marR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B1F24"/>
                          </a:solidFill>
                          <a:latin typeface="Calibri"/>
                        </a:rPr>
                        <a:t>8-week forecast for every SKU</a:t>
                      </a:r>
                    </a:p>
                  </a:txBody>
                  <a:tcPr marL="73152" marR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AE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B1F24"/>
                          </a:solidFill>
                          <a:latin typeface="Calibri"/>
                        </a:rPr>
                        <a:t>Supplier wait time</a:t>
                      </a:r>
                    </a:p>
                  </a:txBody>
                  <a:tcPr marL="73152" marR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B1F24"/>
                          </a:solidFill>
                          <a:latin typeface="Calibri"/>
                        </a:rPr>
                        <a:t>Ignored</a:t>
                      </a:r>
                    </a:p>
                  </a:txBody>
                  <a:tcPr marL="73152" marR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B1F24"/>
                          </a:solidFill>
                          <a:latin typeface="Calibri"/>
                        </a:rPr>
                        <a:t>Built into every stock check</a:t>
                      </a:r>
                    </a:p>
                  </a:txBody>
                  <a:tcPr marL="73152" marR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AE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B1F24"/>
                          </a:solidFill>
                          <a:latin typeface="Calibri"/>
                        </a:rPr>
                        <a:t>Priority</a:t>
                      </a:r>
                    </a:p>
                  </a:txBody>
                  <a:tcPr marL="73152" marR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B1F24"/>
                          </a:solidFill>
                          <a:latin typeface="Calibri"/>
                        </a:rPr>
                        <a:t>Every SKU looks equal</a:t>
                      </a:r>
                    </a:p>
                  </a:txBody>
                  <a:tcPr marL="73152" marR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B1F24"/>
                          </a:solidFill>
                          <a:latin typeface="Calibri"/>
                        </a:rPr>
                        <a:t>Ranked by rupees at stake</a:t>
                      </a:r>
                    </a:p>
                  </a:txBody>
                  <a:tcPr marL="73152" marR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AE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B1F24"/>
                          </a:solidFill>
                          <a:latin typeface="Calibri"/>
                        </a:rPr>
                        <a:t>Audit trail</a:t>
                      </a:r>
                    </a:p>
                  </a:txBody>
                  <a:tcPr marL="73152" marR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B1F24"/>
                          </a:solidFill>
                          <a:latin typeface="Calibri"/>
                        </a:rPr>
                        <a:t>Manual edits, no history</a:t>
                      </a:r>
                    </a:p>
                  </a:txBody>
                  <a:tcPr marL="73152" marR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B1F24"/>
                          </a:solidFill>
                          <a:latin typeface="Calibri"/>
                        </a:rPr>
                        <a:t>Same answer every run, tested</a:t>
                      </a:r>
                    </a:p>
                  </a:txBody>
                  <a:tcPr marL="73152" marR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AE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B1F24"/>
                          </a:solidFill>
                          <a:latin typeface="Calibri"/>
                        </a:rPr>
                        <a:t>Explains itself</a:t>
                      </a:r>
                    </a:p>
                  </a:txBody>
                  <a:tcPr marL="73152" marR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B1F24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73152" marR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B1F24"/>
                          </a:solidFill>
                          <a:latin typeface="Calibri"/>
                        </a:rPr>
                        <a:t>One-line reason for every SKU</a:t>
                      </a:r>
                    </a:p>
                  </a:txBody>
                  <a:tcPr marL="73152" marR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AE1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1F3A5F"/>
                </a:solidFill>
                <a:latin typeface="Calibri"/>
              </a:rPr>
              <a:t>THE 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100023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0">
                <a:solidFill>
                  <a:srgbClr val="1B1F24"/>
                </a:solidFill>
                <a:latin typeface="Georgia"/>
              </a:rPr>
              <a:t>The output is a ranked to-do list, not another dashboard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6355080"/>
            <a:ext cx="11000232" cy="0"/>
          </a:xfrm>
          <a:prstGeom prst="line">
            <a:avLst/>
          </a:prstGeom>
          <a:ln w="9525">
            <a:solidFill>
              <a:srgbClr val="D5DA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94360" y="6419088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F6B7A"/>
                </a:solidFill>
                <a:latin typeface="Calibri"/>
              </a:rPr>
              <a:t>Source: FORESIGHT risk engine, artifacts/risk_snapshot.csv (stock as of 31 Dec 2025, NorthBay Living sample data). Rows shown exactly as the engine writes them (top 3 of each action).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37392" y="641908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5F6B7A"/>
                </a:solidFill>
                <a:latin typeface="Calibri"/>
              </a:rPr>
              <a:t>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783080"/>
          <a:ext cx="11000232" cy="4352544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920240"/>
                <a:gridCol w="1463040"/>
                <a:gridCol w="6062472"/>
                <a:gridCol w="1554480"/>
              </a:tblGrid>
              <a:tr h="62179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F6B7A"/>
                          </a:solidFill>
                          <a:latin typeface="Calibri"/>
                        </a:rPr>
                        <a:t>SKU</a:t>
                      </a:r>
                    </a:p>
                  </a:txBody>
                  <a:tcPr marL="73152" marR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F6B7A"/>
                          </a:solidFill>
                          <a:latin typeface="Calibri"/>
                        </a:rPr>
                        <a:t>Action</a:t>
                      </a:r>
                    </a:p>
                  </a:txBody>
                  <a:tcPr marL="73152" marR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F6B7A"/>
                          </a:solidFill>
                          <a:latin typeface="Calibri"/>
                        </a:rPr>
                        <a:t>Why</a:t>
                      </a:r>
                    </a:p>
                  </a:txBody>
                  <a:tcPr marL="73152" marR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F6B7A"/>
                          </a:solidFill>
                          <a:latin typeface="Calibri"/>
                        </a:rPr>
                        <a:t>₹ at stake</a:t>
                      </a:r>
                    </a:p>
                  </a:txBody>
                  <a:tcPr marL="73152" marR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AE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Calibri"/>
                        </a:rPr>
                        <a:t>Cushions</a:t>
                      </a:r>
                    </a:p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Calibri"/>
                        </a:rPr>
                        <a:t>HOM-CUS-011</a:t>
                      </a:r>
                    </a:p>
                  </a:txBody>
                  <a:tcPr marL="73152" marR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B76E00"/>
                          </a:solidFill>
                          <a:latin typeface="Calibri"/>
                        </a:rPr>
                        <a:t>Clear excess</a:t>
                      </a:r>
                    </a:p>
                  </a:txBody>
                  <a:tcPr marL="73152" marR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Calibri"/>
                        </a:rPr>
                        <a:t>Current stock (1161) exceeds 12-week demand (340). ₹2,330,234 working capital locked in 765 excess units.</a:t>
                      </a:r>
                    </a:p>
                  </a:txBody>
                  <a:tcPr marL="73152" marR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B1F24"/>
                          </a:solidFill>
                          <a:latin typeface="Calibri"/>
                        </a:rPr>
                        <a:t>₹23.3 L</a:t>
                      </a:r>
                    </a:p>
                  </a:txBody>
                  <a:tcPr marL="73152" marR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AE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Calibri"/>
                        </a:rPr>
                        <a:t>Pillows</a:t>
                      </a:r>
                    </a:p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Calibri"/>
                        </a:rPr>
                        <a:t>BED-PIL-021</a:t>
                      </a:r>
                    </a:p>
                  </a:txBody>
                  <a:tcPr marL="73152" marR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B42318"/>
                          </a:solidFill>
                          <a:latin typeface="Calibri"/>
                        </a:rPr>
                        <a:t>Reorder now</a:t>
                      </a:r>
                    </a:p>
                  </a:txBody>
                  <a:tcPr marL="73152" marR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Calibri"/>
                        </a:rPr>
                        <a:t>Projected available stock (7) is below reorder level (196) across 35d lead time. Gap of 189 units.</a:t>
                      </a:r>
                    </a:p>
                  </a:txBody>
                  <a:tcPr marL="73152" marR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B1F24"/>
                          </a:solidFill>
                          <a:latin typeface="Calibri"/>
                        </a:rPr>
                        <a:t>₹14.2 L</a:t>
                      </a:r>
                    </a:p>
                  </a:txBody>
                  <a:tcPr marL="73152" marR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AE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Calibri"/>
                        </a:rPr>
                        <a:t>Table Linen</a:t>
                      </a:r>
                    </a:p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Calibri"/>
                        </a:rPr>
                        <a:t>KIT-TAB-031</a:t>
                      </a:r>
                    </a:p>
                  </a:txBody>
                  <a:tcPr marL="73152" marR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B42318"/>
                          </a:solidFill>
                          <a:latin typeface="Calibri"/>
                        </a:rPr>
                        <a:t>Reorder now</a:t>
                      </a:r>
                    </a:p>
                  </a:txBody>
                  <a:tcPr marL="73152" marR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Calibri"/>
                        </a:rPr>
                        <a:t>Projected available stock (27) is below reorder level (195) across 35d lead time. Gap of 168 units.</a:t>
                      </a:r>
                    </a:p>
                  </a:txBody>
                  <a:tcPr marL="73152" marR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B1F24"/>
                          </a:solidFill>
                          <a:latin typeface="Calibri"/>
                        </a:rPr>
                        <a:t>₹10.4 L</a:t>
                      </a:r>
                    </a:p>
                  </a:txBody>
                  <a:tcPr marL="73152" marR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AE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Calibri"/>
                        </a:rPr>
                        <a:t>Pillows</a:t>
                      </a:r>
                    </a:p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Calibri"/>
                        </a:rPr>
                        <a:t>BED-PIL-020</a:t>
                      </a:r>
                    </a:p>
                  </a:txBody>
                  <a:tcPr marL="73152" marR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B76E00"/>
                          </a:solidFill>
                          <a:latin typeface="Calibri"/>
                        </a:rPr>
                        <a:t>Clear excess</a:t>
                      </a:r>
                    </a:p>
                  </a:txBody>
                  <a:tcPr marL="73152" marR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Calibri"/>
                        </a:rPr>
                        <a:t>Current stock (728) exceeds 12-week demand (327). ₹931,612 working capital locked in 356 excess units.</a:t>
                      </a:r>
                    </a:p>
                  </a:txBody>
                  <a:tcPr marL="73152" marR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B1F24"/>
                          </a:solidFill>
                          <a:latin typeface="Calibri"/>
                        </a:rPr>
                        <a:t>₹9.3 L</a:t>
                      </a:r>
                    </a:p>
                  </a:txBody>
                  <a:tcPr marL="73152" marR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AE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Calibri"/>
                        </a:rPr>
                        <a:t>Candles</a:t>
                      </a:r>
                    </a:p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Calibri"/>
                        </a:rPr>
                        <a:t>HOM-CAN-007</a:t>
                      </a:r>
                    </a:p>
                  </a:txBody>
                  <a:tcPr marL="73152" marR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B42318"/>
                          </a:solidFill>
                          <a:latin typeface="Calibri"/>
                        </a:rPr>
                        <a:t>Reorder now</a:t>
                      </a:r>
                    </a:p>
                  </a:txBody>
                  <a:tcPr marL="73152" marR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Calibri"/>
                        </a:rPr>
                        <a:t>Projected available stock (11) is below reorder level (163) across 28d lead time. Gap of 152 units.</a:t>
                      </a:r>
                    </a:p>
                  </a:txBody>
                  <a:tcPr marL="73152" marR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B1F24"/>
                          </a:solidFill>
                          <a:latin typeface="Calibri"/>
                        </a:rPr>
                        <a:t>₹6.3 L</a:t>
                      </a:r>
                    </a:p>
                  </a:txBody>
                  <a:tcPr marL="73152" marR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AE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Calibri"/>
                        </a:rPr>
                        <a:t>Towels</a:t>
                      </a:r>
                    </a:p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Calibri"/>
                        </a:rPr>
                        <a:t>BAT-TOW-033</a:t>
                      </a:r>
                    </a:p>
                  </a:txBody>
                  <a:tcPr marL="73152" marR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B76E00"/>
                          </a:solidFill>
                          <a:latin typeface="Calibri"/>
                        </a:rPr>
                        <a:t>Clear excess</a:t>
                      </a:r>
                    </a:p>
                  </a:txBody>
                  <a:tcPr marL="73152" marR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B1F24"/>
                          </a:solidFill>
                          <a:latin typeface="Calibri"/>
                        </a:rPr>
                        <a:t>Current stock (649) exceeds 12-week demand (331). ₹563,653 working capital locked in 271 excess units.</a:t>
                      </a:r>
                    </a:p>
                  </a:txBody>
                  <a:tcPr marL="73152" marR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B1F24"/>
                          </a:solidFill>
                          <a:latin typeface="Calibri"/>
                        </a:rPr>
                        <a:t>₹5.6 L</a:t>
                      </a:r>
                    </a:p>
                  </a:txBody>
                  <a:tcPr marL="73152" marR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AE1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1F3A5F"/>
                </a:solidFill>
                <a:latin typeface="Calibri"/>
              </a:rPr>
              <a:t>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100023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0">
                <a:solidFill>
                  <a:srgbClr val="1B1F24"/>
                </a:solidFill>
                <a:latin typeface="Georgia"/>
              </a:rPr>
              <a:t>Three steps turn sales history into a priced action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6355080"/>
            <a:ext cx="11000232" cy="0"/>
          </a:xfrm>
          <a:prstGeom prst="line">
            <a:avLst/>
          </a:prstGeom>
          <a:ln w="9525">
            <a:solidFill>
              <a:srgbClr val="D5DA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94360" y="6419088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F6B7A"/>
                </a:solidFill>
                <a:latin typeface="Calibri"/>
              </a:rPr>
              <a:t>Source: FORESIGHT pipeline (src/forecast.py, src/risk.py, src/impact.py).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37392" y="641908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5F6B7A"/>
                </a:solidFill>
                <a:latin typeface="Calibri"/>
              </a:rPr>
              <a:t>5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594360" y="1965960"/>
            <a:ext cx="3300984" cy="2148840"/>
            <a:chOff x="594360" y="1965960"/>
            <a:chExt cx="3300984" cy="2148840"/>
          </a:xfrm>
        </p:grpSpPr>
        <p:sp>
          <p:nvSpPr>
            <p:cNvPr id="8" name="TextBox 7"/>
            <p:cNvSpPr txBox="1"/>
            <p:nvPr/>
          </p:nvSpPr>
          <p:spPr>
            <a:xfrm>
              <a:off x="594360" y="1965960"/>
              <a:ext cx="731520" cy="54864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/>
              <a:r>
                <a:rPr sz="3000" b="0">
                  <a:solidFill>
                    <a:srgbClr val="1F3A5F"/>
                  </a:solidFill>
                  <a:latin typeface="Georgia"/>
                </a:rPr>
                <a:t>1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594360" y="2606039"/>
              <a:ext cx="3300984" cy="45720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/>
              <a:r>
                <a:rPr sz="1600" b="1">
                  <a:solidFill>
                    <a:srgbClr val="1B1F24"/>
                  </a:solidFill>
                  <a:latin typeface="Calibri"/>
                </a:rPr>
                <a:t>Forecast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594360" y="3017520"/>
              <a:ext cx="3300984" cy="109728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/>
              <a:r>
                <a:rPr sz="1300" b="0">
                  <a:solidFill>
                    <a:srgbClr val="5F6B7A"/>
                  </a:solidFill>
                  <a:latin typeface="Calibri"/>
                </a:rPr>
                <a:t>Predicts each SKU's weekly sales, 8 weeks ahead, from history, seasons, prices and promotions.</a:t>
              </a: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4123944" y="1965960"/>
            <a:ext cx="3438144" cy="2148840"/>
            <a:chOff x="4123944" y="1965960"/>
            <a:chExt cx="3438144" cy="2148840"/>
          </a:xfrm>
        </p:grpSpPr>
        <p:cxnSp>
          <p:nvCxnSpPr>
            <p:cNvPr id="12" name="Connector 11"/>
            <p:cNvCxnSpPr/>
            <p:nvPr/>
          </p:nvCxnSpPr>
          <p:spPr>
            <a:xfrm>
              <a:off x="4123944" y="1965960"/>
              <a:ext cx="0" cy="1737360"/>
            </a:xfrm>
            <a:prstGeom prst="line">
              <a:avLst/>
            </a:prstGeom>
            <a:ln w="9525">
              <a:solidFill>
                <a:srgbClr val="D5DAE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/>
            <p:cNvSpPr txBox="1"/>
            <p:nvPr/>
          </p:nvSpPr>
          <p:spPr>
            <a:xfrm>
              <a:off x="4261104" y="1965960"/>
              <a:ext cx="731520" cy="54864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/>
              <a:r>
                <a:rPr sz="3000" b="0">
                  <a:solidFill>
                    <a:srgbClr val="1F3A5F"/>
                  </a:solidFill>
                  <a:latin typeface="Georgia"/>
                </a:rPr>
                <a:t>2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4261104" y="2606039"/>
              <a:ext cx="3300984" cy="45720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/>
              <a:r>
                <a:rPr sz="1600" b="1">
                  <a:solidFill>
                    <a:srgbClr val="1B1F24"/>
                  </a:solidFill>
                  <a:latin typeface="Calibri"/>
                </a:rPr>
                <a:t>Check against lead time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4261104" y="3017520"/>
              <a:ext cx="3300984" cy="109728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/>
              <a:r>
                <a:rPr sz="1300" b="0">
                  <a:solidFill>
                    <a:srgbClr val="5F6B7A"/>
                  </a:solidFill>
                  <a:latin typeface="Calibri"/>
                </a:rPr>
                <a:t>Will stock on hand and on order last until the supplier's next delivery, with a 95% buffer?</a:t>
              </a:r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7790688" y="1965960"/>
            <a:ext cx="3438144" cy="2148840"/>
            <a:chOff x="7790688" y="1965960"/>
            <a:chExt cx="3438144" cy="2148840"/>
          </a:xfrm>
        </p:grpSpPr>
        <p:cxnSp>
          <p:nvCxnSpPr>
            <p:cNvPr id="17" name="Connector 16"/>
            <p:cNvCxnSpPr/>
            <p:nvPr/>
          </p:nvCxnSpPr>
          <p:spPr>
            <a:xfrm>
              <a:off x="7790688" y="1965960"/>
              <a:ext cx="0" cy="1737360"/>
            </a:xfrm>
            <a:prstGeom prst="line">
              <a:avLst/>
            </a:prstGeom>
            <a:ln w="9525">
              <a:solidFill>
                <a:srgbClr val="D5DAE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/>
            <p:cNvSpPr txBox="1"/>
            <p:nvPr/>
          </p:nvSpPr>
          <p:spPr>
            <a:xfrm>
              <a:off x="7927848" y="1965960"/>
              <a:ext cx="731520" cy="54864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/>
              <a:r>
                <a:rPr sz="3000" b="0">
                  <a:solidFill>
                    <a:srgbClr val="1F3A5F"/>
                  </a:solidFill>
                  <a:latin typeface="Georgia"/>
                </a:rPr>
                <a:t>3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7927848" y="2606039"/>
              <a:ext cx="3300984" cy="45720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/>
              <a:r>
                <a:rPr sz="1600" b="1">
                  <a:solidFill>
                    <a:srgbClr val="1B1F24"/>
                  </a:solidFill>
                  <a:latin typeface="Calibri"/>
                </a:rPr>
                <a:t>Price the gap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7927848" y="3017520"/>
              <a:ext cx="3300984" cy="109728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/>
              <a:r>
                <a:rPr sz="1300" b="0">
                  <a:solidFill>
                    <a:srgbClr val="5F6B7A"/>
                  </a:solidFill>
                  <a:latin typeface="Calibri"/>
                </a:rPr>
                <a:t>Turns every shortfall into sales at risk and every excess into cash locked, then ranks them.</a:t>
              </a:r>
            </a:p>
          </p:txBody>
        </p:sp>
      </p:grpSp>
      <p:cxnSp>
        <p:nvCxnSpPr>
          <p:cNvPr id="21" name="Connector 20"/>
          <p:cNvCxnSpPr/>
          <p:nvPr/>
        </p:nvCxnSpPr>
        <p:spPr>
          <a:xfrm>
            <a:off x="594360" y="4754880"/>
            <a:ext cx="11000232" cy="0"/>
          </a:xfrm>
          <a:prstGeom prst="line">
            <a:avLst/>
          </a:prstGeom>
          <a:ln w="9525">
            <a:solidFill>
              <a:srgbClr val="D5DA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94360" y="4937760"/>
            <a:ext cx="1100023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1B1F24"/>
                </a:solidFill>
                <a:latin typeface="Georgia"/>
              </a:rPr>
              <a:t>Planners get the answer and the reason. No model to operate, no formulas to maintain.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1F3A5F"/>
                </a:solidFill>
                <a:latin typeface="Calibri"/>
              </a:rPr>
              <a:t>PROOF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100023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0">
                <a:solidFill>
                  <a:srgbClr val="1B1F24"/>
                </a:solidFill>
                <a:latin typeface="Georgia"/>
              </a:rPr>
              <a:t>One pass over NorthBay's range found ₹1.16 crore to act 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6355080"/>
            <a:ext cx="11000232" cy="0"/>
          </a:xfrm>
          <a:prstGeom prst="line">
            <a:avLst/>
          </a:prstGeom>
          <a:ln w="9525">
            <a:solidFill>
              <a:srgbClr val="D5DA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94360" y="6419088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F6B7A"/>
                </a:solidFill>
                <a:latin typeface="Calibri"/>
              </a:rPr>
              <a:t>Sources: re-run of FORESIGHT back-test (src/backtest.py), 4 rolling test windows Aug–Dec 2025, 8 weeks each, 40 SKUs. WAPE = total absolute error ÷ total units sold. Rupee values: artifacts/risk_snapshot.csv.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37392" y="641908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5F6B7A"/>
                </a:solidFill>
                <a:latin typeface="Calibri"/>
              </a:rPr>
              <a:t>6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594360" y="2377440"/>
            <a:ext cx="3383280" cy="2011680"/>
            <a:chOff x="594360" y="2377440"/>
            <a:chExt cx="3383280" cy="2011680"/>
          </a:xfrm>
        </p:grpSpPr>
        <p:sp>
          <p:nvSpPr>
            <p:cNvPr id="8" name="TextBox 7"/>
            <p:cNvSpPr txBox="1"/>
            <p:nvPr/>
          </p:nvSpPr>
          <p:spPr>
            <a:xfrm>
              <a:off x="594360" y="2377440"/>
              <a:ext cx="3383280" cy="100584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/>
              <a:r>
                <a:rPr sz="4800" b="0">
                  <a:solidFill>
                    <a:srgbClr val="1F3A5F"/>
                  </a:solidFill>
                  <a:latin typeface="Georgia"/>
                </a:rPr>
                <a:t>−37%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594360" y="3474720"/>
              <a:ext cx="3291840" cy="91440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/>
              <a:r>
                <a:rPr sz="1500" b="0">
                  <a:solidFill>
                    <a:srgbClr val="5F6B7A"/>
                  </a:solidFill>
                  <a:latin typeface="Calibri"/>
                </a:rPr>
                <a:t>forecast error versus a</a:t>
              </a:r>
            </a:p>
            <a:p>
              <a:pPr algn="l"/>
              <a:r>
                <a:rPr sz="1500" b="0">
                  <a:solidFill>
                    <a:srgbClr val="5F6B7A"/>
                  </a:solidFill>
                  <a:latin typeface="Calibri"/>
                </a:rPr>
                <a:t>same-week-last-year rule</a:t>
              </a: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3986784" y="2286000"/>
            <a:ext cx="3657600" cy="2377440"/>
            <a:chOff x="3986784" y="2286000"/>
            <a:chExt cx="3657600" cy="2377440"/>
          </a:xfrm>
        </p:grpSpPr>
        <p:cxnSp>
          <p:nvCxnSpPr>
            <p:cNvPr id="11" name="Connector 10"/>
            <p:cNvCxnSpPr/>
            <p:nvPr/>
          </p:nvCxnSpPr>
          <p:spPr>
            <a:xfrm>
              <a:off x="3986784" y="2286000"/>
              <a:ext cx="0" cy="2377440"/>
            </a:xfrm>
            <a:prstGeom prst="line">
              <a:avLst/>
            </a:prstGeom>
            <a:ln w="9525">
              <a:solidFill>
                <a:srgbClr val="D5DAE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/>
            <p:cNvSpPr txBox="1"/>
            <p:nvPr/>
          </p:nvSpPr>
          <p:spPr>
            <a:xfrm>
              <a:off x="4261104" y="2377440"/>
              <a:ext cx="3383280" cy="100584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/>
              <a:r>
                <a:rPr sz="4800" b="0">
                  <a:solidFill>
                    <a:srgbClr val="B42318"/>
                  </a:solidFill>
                  <a:latin typeface="Georgia"/>
                </a:rPr>
                <a:t>₹58.8 L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4261104" y="3474720"/>
              <a:ext cx="3291840" cy="91440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/>
              <a:r>
                <a:rPr sz="1500" b="0">
                  <a:solidFill>
                    <a:srgbClr val="5F6B7A"/>
                  </a:solidFill>
                  <a:latin typeface="Calibri"/>
                </a:rPr>
                <a:t>sales at risk flagged,</a:t>
              </a:r>
            </a:p>
            <a:p>
              <a:pPr algn="l"/>
              <a:r>
                <a:rPr sz="1500" b="0">
                  <a:solidFill>
                    <a:srgbClr val="5F6B7A"/>
                  </a:solidFill>
                  <a:latin typeface="Calibri"/>
                </a:rPr>
                <a:t>across 10 SKUs</a:t>
              </a:r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7653527" y="2286000"/>
            <a:ext cx="3657601" cy="2377440"/>
            <a:chOff x="7653527" y="2286000"/>
            <a:chExt cx="3657601" cy="2377440"/>
          </a:xfrm>
        </p:grpSpPr>
        <p:cxnSp>
          <p:nvCxnSpPr>
            <p:cNvPr id="15" name="Connector 14"/>
            <p:cNvCxnSpPr/>
            <p:nvPr/>
          </p:nvCxnSpPr>
          <p:spPr>
            <a:xfrm>
              <a:off x="7653527" y="2286000"/>
              <a:ext cx="0" cy="2377440"/>
            </a:xfrm>
            <a:prstGeom prst="line">
              <a:avLst/>
            </a:prstGeom>
            <a:ln w="9525">
              <a:solidFill>
                <a:srgbClr val="D5DAE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/>
            <p:cNvSpPr txBox="1"/>
            <p:nvPr/>
          </p:nvSpPr>
          <p:spPr>
            <a:xfrm>
              <a:off x="7927848" y="2377440"/>
              <a:ext cx="3383280" cy="100584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/>
              <a:r>
                <a:rPr sz="4800" b="0">
                  <a:solidFill>
                    <a:srgbClr val="B76E00"/>
                  </a:solidFill>
                  <a:latin typeface="Georgia"/>
                </a:rPr>
                <a:t>₹57.2 L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7927848" y="3474720"/>
              <a:ext cx="3291840" cy="91440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/>
              <a:r>
                <a:rPr sz="1500" b="0">
                  <a:solidFill>
                    <a:srgbClr val="5F6B7A"/>
                  </a:solidFill>
                  <a:latin typeface="Calibri"/>
                </a:rPr>
                <a:t>cash to release,</a:t>
              </a:r>
            </a:p>
            <a:p>
              <a:pPr algn="l"/>
              <a:r>
                <a:rPr sz="1500" b="0">
                  <a:solidFill>
                    <a:srgbClr val="5F6B7A"/>
                  </a:solidFill>
                  <a:latin typeface="Calibri"/>
                </a:rPr>
                <a:t>across 9 SKUs</a:t>
              </a:r>
            </a:p>
          </p:txBody>
        </p:sp>
      </p:grpSp>
      <p:cxnSp>
        <p:nvCxnSpPr>
          <p:cNvPr id="18" name="Connector 17"/>
          <p:cNvCxnSpPr/>
          <p:nvPr/>
        </p:nvCxnSpPr>
        <p:spPr>
          <a:xfrm>
            <a:off x="594360" y="5029200"/>
            <a:ext cx="11000232" cy="0"/>
          </a:xfrm>
          <a:prstGeom prst="line">
            <a:avLst/>
          </a:prstGeom>
          <a:ln w="9525">
            <a:solidFill>
              <a:srgbClr val="D5DA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94360" y="5212080"/>
            <a:ext cx="1100023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1B1F24"/>
                </a:solidFill>
                <a:latin typeface="Georgia"/>
              </a:rPr>
              <a:t>Enough to pay for every reorder from stock already on the shelf, with cash left over.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1F3A5F"/>
                </a:solidFill>
                <a:latin typeface="Calibri"/>
              </a:rPr>
              <a:t>THE ECONOMICS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100023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0">
                <a:solidFill>
                  <a:srgbClr val="1B1F24"/>
                </a:solidFill>
                <a:latin typeface="Georgia"/>
              </a:rPr>
              <a:t>The fix funds itself: excess stock covers the reorder bill twice over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6355080"/>
            <a:ext cx="11000232" cy="0"/>
          </a:xfrm>
          <a:prstGeom prst="line">
            <a:avLst/>
          </a:prstGeom>
          <a:ln w="9525">
            <a:solidFill>
              <a:srgbClr val="D5DA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94360" y="6419088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F6B7A"/>
                </a:solidFill>
                <a:latin typeface="Calibri"/>
              </a:rPr>
              <a:t>Source: FORESIGHT risk engine, artifacts/risk_snapshot.csv (stock as of 31 Dec 2025, NorthBay Living sample data). Reorder cost = shortfall units × unit cost. Assumes excess stock sells through.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37392" y="641908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5F6B7A"/>
                </a:solidFill>
                <a:latin typeface="Calibri"/>
              </a:rPr>
              <a:t>7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94360" y="2011680"/>
          <a:ext cx="7223760" cy="31089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412480" y="2011680"/>
            <a:ext cx="3200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0">
                <a:solidFill>
                  <a:srgbClr val="B76E00"/>
                </a:solidFill>
                <a:latin typeface="Georgia"/>
              </a:rPr>
              <a:t>2.1×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2834640"/>
            <a:ext cx="3200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A"/>
                </a:solidFill>
                <a:latin typeface="Calibri"/>
              </a:rPr>
              <a:t>the cash the reorders need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412480" y="3520440"/>
            <a:ext cx="3108960" cy="0"/>
          </a:xfrm>
          <a:prstGeom prst="line">
            <a:avLst/>
          </a:prstGeom>
          <a:ln w="9525">
            <a:solidFill>
              <a:srgbClr val="D5DA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412480" y="3657600"/>
            <a:ext cx="3200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B1F24"/>
                </a:solidFill>
                <a:latin typeface="Calibri"/>
              </a:rPr>
              <a:t>Even at 20% off, excess stock still sells above cost: the lowest-priced SKU sells at 1.6× its cost.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412480" y="4754880"/>
            <a:ext cx="3108960" cy="0"/>
          </a:xfrm>
          <a:prstGeom prst="line">
            <a:avLst/>
          </a:prstGeom>
          <a:ln w="9525">
            <a:solidFill>
              <a:srgbClr val="D5DA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412480" y="4892040"/>
            <a:ext cx="3200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B1F24"/>
                </a:solidFill>
                <a:latin typeface="Calibri"/>
              </a:rPr>
              <a:t>Revenue the reorders protect: ₹58.8 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1F3A5F"/>
                </a:solidFill>
                <a:latin typeface="Calibri"/>
              </a:rPr>
              <a:t>WHY TRUST 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100023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0">
                <a:solidFill>
                  <a:srgbClr val="1B1F24"/>
                </a:solidFill>
                <a:latin typeface="Georgia"/>
              </a:rPr>
              <a:t>Every recommendation shows its working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6355080"/>
            <a:ext cx="11000232" cy="0"/>
          </a:xfrm>
          <a:prstGeom prst="line">
            <a:avLst/>
          </a:prstGeom>
          <a:ln w="9525">
            <a:solidFill>
              <a:srgbClr val="D5DA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94360" y="6419088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F6B7A"/>
                </a:solidFill>
                <a:latin typeface="Calibri"/>
              </a:rPr>
              <a:t>Sources: artifacts/risk_snapshot.csv; tests/ (23 of 23 passing, 27 Sep 2026); src/backtest.py.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37392" y="641908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5F6B7A"/>
                </a:solidFill>
                <a:latin typeface="Calibri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920240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5F6B7A"/>
                </a:solidFill>
                <a:latin typeface="Calibri"/>
              </a:rPr>
              <a:t>WHAT THE PLANNER SEES FOR PILLOWS (BED-PIL-021)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94360" y="2331720"/>
            <a:ext cx="0" cy="1325880"/>
          </a:xfrm>
          <a:prstGeom prst="line">
            <a:avLst/>
          </a:prstGeom>
          <a:ln w="3810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68680" y="2331720"/>
            <a:ext cx="54864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>
                <a:solidFill>
                  <a:srgbClr val="1B1F24"/>
                </a:solidFill>
                <a:latin typeface="Georgia"/>
              </a:rPr>
              <a:t>“Projected available stock (7) is below reorder level (196) across 35d lead time. Gap of 189 units.”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949440" y="1920240"/>
            <a:ext cx="4645152" cy="0"/>
          </a:xfrm>
          <a:prstGeom prst="line">
            <a:avLst/>
          </a:prstGeom>
          <a:ln w="9525">
            <a:solidFill>
              <a:srgbClr val="D5DA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949440" y="2057400"/>
            <a:ext cx="464515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1B1F24"/>
                </a:solidFill>
                <a:latin typeface="Calibri"/>
              </a:rPr>
              <a:t>Tested on 4 past periods it never saw during training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949440" y="2926080"/>
            <a:ext cx="4645152" cy="0"/>
          </a:xfrm>
          <a:prstGeom prst="line">
            <a:avLst/>
          </a:prstGeom>
          <a:ln w="9525">
            <a:solidFill>
              <a:srgbClr val="D5DA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949440" y="3063240"/>
            <a:ext cx="464515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1B1F24"/>
                </a:solidFill>
                <a:latin typeface="Calibri"/>
              </a:rPr>
              <a:t>23 automated checks run on every change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949440" y="3931920"/>
            <a:ext cx="4645152" cy="0"/>
          </a:xfrm>
          <a:prstGeom prst="line">
            <a:avLst/>
          </a:prstGeom>
          <a:ln w="9525">
            <a:solidFill>
              <a:srgbClr val="D5DA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949440" y="4069080"/>
            <a:ext cx="464515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1B1F24"/>
                </a:solidFill>
                <a:latin typeface="Calibri"/>
              </a:rPr>
              <a:t>Dashboard and API return identical scores, checked by a test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1F3A5F"/>
                </a:solidFill>
                <a:latin typeface="Calibri"/>
              </a:rPr>
              <a:t>THE OFFER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100023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0">
                <a:solidFill>
                  <a:srgbClr val="1B1F24"/>
                </a:solidFill>
                <a:latin typeface="Georgia"/>
              </a:rPr>
              <a:t>Start with a 90-day pilot on your top 40 SKUs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6355080"/>
            <a:ext cx="11000232" cy="0"/>
          </a:xfrm>
          <a:prstGeom prst="line">
            <a:avLst/>
          </a:prstGeom>
          <a:ln w="9525">
            <a:solidFill>
              <a:srgbClr val="D5DA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94360" y="6419088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F6B7A"/>
                </a:solidFill>
                <a:latin typeface="Calibri"/>
              </a:rPr>
              <a:t>Pilot structure mirrors the NorthBay rollout plan (reports/executive_readout_outline.md).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37392" y="641908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5F6B7A"/>
                </a:solidFill>
                <a:latin typeface="Calibri"/>
              </a:rPr>
              <a:t>9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828800"/>
            <a:ext cx="1778507" cy="128016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057400"/>
            <a:ext cx="16504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F3A5F"/>
                </a:solidFill>
                <a:latin typeface="Calibri"/>
              </a:rPr>
              <a:t>WEEKS 1–2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377440"/>
            <a:ext cx="16047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B1F24"/>
                </a:solidFill>
                <a:latin typeface="Calibri"/>
              </a:rPr>
              <a:t>Back-test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743200"/>
            <a:ext cx="1604772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F6B7A"/>
                </a:solidFill>
                <a:latin typeface="Calibri"/>
              </a:rPr>
              <a:t>Run on your own history. See the accuracy before you change anything.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27732" y="1828800"/>
            <a:ext cx="1778507" cy="128016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27732" y="2057400"/>
            <a:ext cx="16504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F3A5F"/>
                </a:solidFill>
                <a:latin typeface="Calibri"/>
              </a:rPr>
              <a:t>WEEKS 3–4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27732" y="2377440"/>
            <a:ext cx="16047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B1F24"/>
                </a:solidFill>
                <a:latin typeface="Calibri"/>
              </a:rPr>
              <a:t>First queue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27732" y="2743200"/>
            <a:ext cx="1604772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F6B7A"/>
                </a:solidFill>
                <a:latin typeface="Calibri"/>
              </a:rPr>
              <a:t>Your ranked list of reorders and markdowns, in rupees.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61104" y="1828800"/>
            <a:ext cx="7278624" cy="128016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61104" y="2057400"/>
            <a:ext cx="715060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F3A5F"/>
                </a:solidFill>
                <a:latin typeface="Calibri"/>
              </a:rPr>
              <a:t>WEEKS 5–12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61104" y="2377440"/>
            <a:ext cx="71048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B1F24"/>
                </a:solidFill>
                <a:latin typeface="Calibri"/>
              </a:rPr>
              <a:t>Weekly rhythm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61104" y="2743200"/>
            <a:ext cx="7104888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F6B7A"/>
                </a:solidFill>
                <a:latin typeface="Calibri"/>
              </a:rPr>
              <a:t>Monday review runs from the queue. We report three numbers weekly.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94360" y="4297680"/>
            <a:ext cx="11000232" cy="0"/>
          </a:xfrm>
          <a:prstGeom prst="line">
            <a:avLst/>
          </a:prstGeom>
          <a:ln w="9525">
            <a:solidFill>
              <a:srgbClr val="D5DA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94360" y="4434840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5F6B7A"/>
                </a:solidFill>
                <a:latin typeface="Calibri"/>
              </a:rPr>
              <a:t>SUCCESS MEANS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4800600"/>
            <a:ext cx="3474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1B1F24"/>
                </a:solidFill>
                <a:latin typeface="Georgia"/>
              </a:rPr>
              <a:t>Fewer SKUs short before delivery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61104" y="4800600"/>
            <a:ext cx="3474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1B1F24"/>
                </a:solidFill>
                <a:latin typeface="Georgia"/>
              </a:rPr>
              <a:t>Less cash in excess stock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27848" y="4800600"/>
            <a:ext cx="3474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1B1F24"/>
                </a:solidFill>
                <a:latin typeface="Georgia"/>
              </a:rPr>
              <a:t>Forecast error held on live weeks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1F3A5F"/>
                </a:solidFill>
                <a:latin typeface="Calibri"/>
              </a:rPr>
              <a:t>NEXT STEP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100023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0">
                <a:solidFill>
                  <a:srgbClr val="1B1F24"/>
                </a:solidFill>
                <a:latin typeface="Georgia"/>
              </a:rPr>
              <a:t>To start, we need four files you already have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6355080"/>
            <a:ext cx="11000232" cy="0"/>
          </a:xfrm>
          <a:prstGeom prst="line">
            <a:avLst/>
          </a:prstGeom>
          <a:ln w="9525">
            <a:solidFill>
              <a:srgbClr val="D5DA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94360" y="6419088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F6B7A"/>
                </a:solidFill>
                <a:latin typeface="Calibri"/>
              </a:rPr>
              <a:t>Input tables: data/sample/ (sales_daily, sku_master, calendar, inventory_snapshots).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37392" y="641908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5F6B7A"/>
                </a:solidFill>
                <a:latin typeface="Calibri"/>
              </a:rPr>
              <a:t>10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1874519"/>
            <a:ext cx="6583680" cy="0"/>
          </a:xfrm>
          <a:prstGeom prst="line">
            <a:avLst/>
          </a:prstGeom>
          <a:ln w="9525">
            <a:solidFill>
              <a:srgbClr val="D5DA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94360" y="2011679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1F3A5F"/>
                </a:solidFill>
                <a:latin typeface="Georg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039112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B1F24"/>
                </a:solidFill>
                <a:latin typeface="Calibri"/>
              </a:rPr>
              <a:t>Daily sales, 24 months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2057400"/>
            <a:ext cx="2651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F6B7A"/>
                </a:solidFill>
                <a:latin typeface="Calibri"/>
              </a:rPr>
              <a:t>Learns demand and seasonality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94360" y="2606039"/>
            <a:ext cx="6583680" cy="0"/>
          </a:xfrm>
          <a:prstGeom prst="line">
            <a:avLst/>
          </a:prstGeom>
          <a:ln w="9525">
            <a:solidFill>
              <a:srgbClr val="D5DA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94360" y="2743199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1F3A5F"/>
                </a:solidFill>
                <a:latin typeface="Georgi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2770632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B1F24"/>
                </a:solidFill>
                <a:latin typeface="Calibri"/>
              </a:rPr>
              <a:t>SKU list with price and cost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2788920"/>
            <a:ext cx="2651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F6B7A"/>
                </a:solidFill>
                <a:latin typeface="Calibri"/>
              </a:rPr>
              <a:t>Puts rupees on every gap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94360" y="3337560"/>
            <a:ext cx="6583680" cy="0"/>
          </a:xfrm>
          <a:prstGeom prst="line">
            <a:avLst/>
          </a:prstGeom>
          <a:ln w="9525">
            <a:solidFill>
              <a:srgbClr val="D5DA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94360" y="3474720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1F3A5F"/>
                </a:solidFill>
                <a:latin typeface="Georgia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3502152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B1F24"/>
                </a:solidFill>
                <a:latin typeface="Calibri"/>
              </a:rPr>
              <a:t>Promotions &amp; holiday calendar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3520440"/>
            <a:ext cx="2651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F6B7A"/>
                </a:solidFill>
                <a:latin typeface="Calibri"/>
              </a:rPr>
              <a:t>Explains the spikes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94360" y="4069080"/>
            <a:ext cx="6583680" cy="0"/>
          </a:xfrm>
          <a:prstGeom prst="line">
            <a:avLst/>
          </a:prstGeom>
          <a:ln w="9525">
            <a:solidFill>
              <a:srgbClr val="D5DA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94360" y="4206240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1F3A5F"/>
                </a:solidFill>
                <a:latin typeface="Georgia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4233672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B1F24"/>
                </a:solidFill>
                <a:latin typeface="Calibri"/>
              </a:rPr>
              <a:t>Current stock, open orders, lead times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4251960"/>
            <a:ext cx="2651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F6B7A"/>
                </a:solidFill>
                <a:latin typeface="Calibri"/>
              </a:rPr>
              <a:t>Sets the starting position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680960" y="1874519"/>
            <a:ext cx="3913632" cy="2926080"/>
          </a:xfrm>
          <a:prstGeom prst="rect">
            <a:avLst/>
          </a:prstGeom>
          <a:solidFill>
            <a:srgbClr val="F3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55279" y="2103120"/>
            <a:ext cx="3474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5F6B7A"/>
                </a:solidFill>
                <a:latin typeface="Calibri"/>
              </a:rPr>
              <a:t>CONTACT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79" y="2468880"/>
            <a:ext cx="3474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>
                <a:solidFill>
                  <a:srgbClr val="1B1F24"/>
                </a:solidFill>
                <a:latin typeface="Georgia"/>
              </a:rPr>
              <a:t>Anshul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55279" y="3063240"/>
            <a:ext cx="347472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1B1F24"/>
                </a:solidFill>
                <a:latin typeface="Calibri"/>
              </a:rPr>
              <a:t>linkedin.com/in/anshul-chaudhary-508138308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1B1F24"/>
                </a:solidFill>
                <a:latin typeface="Calibri"/>
              </a:rPr>
              <a:t>github.com/morid648/foresight-demand-intelligence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1B1F24"/>
                </a:solidFill>
                <a:latin typeface="Calibri"/>
              </a:rPr>
              <a:t>foresight-demand-intelligence.vercel.app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